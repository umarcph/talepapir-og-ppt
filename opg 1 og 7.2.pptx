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8" r:id="rId4"/>
    <p:sldId id="265" r:id="rId5"/>
    <p:sldId id="260" r:id="rId6"/>
    <p:sldId id="270" r:id="rId7"/>
    <p:sldId id="271" r:id="rId8"/>
    <p:sldId id="272" r:id="rId9"/>
    <p:sldId id="257" r:id="rId10"/>
    <p:sldId id="261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DB96F8-0A17-A743-8549-0851BF6C0A59}" v="19" dt="2026-04-13T11:49:49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8"/>
    <p:restoredTop sz="94582"/>
  </p:normalViewPr>
  <p:slideViewPr>
    <p:cSldViewPr snapToGrid="0">
      <p:cViewPr varScale="1">
        <p:scale>
          <a:sx n="113" d="100"/>
          <a:sy n="113" d="100"/>
        </p:scale>
        <p:origin x="18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5E7C0C-9AD8-D593-1702-170AF11A2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1B62192-4931-B48D-759B-78886334F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992E736-BDA6-8464-A92C-C4696818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DA583E3-48FC-DF0F-89DE-27E76905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FCC7038-91C8-CB04-4E07-83E5A77C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9245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DD1E84-8D5B-67FD-CFB6-124B10C08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5E49547-7A97-0B2B-60CB-A8A44494D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E50B131-5881-A629-B758-1E5B89E6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374F115-53D0-5BA8-530E-79344115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80D4FF-4DF4-B5E0-0637-B7EE90520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1968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3B34F-3116-A455-3C3A-5A0FE237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66381E2-2206-6D7B-093D-B45769740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4819905-CFFE-4A67-6CE5-2C5DC742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A1C96DD-F564-A552-0104-0B08640EE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5C74559-BECA-C508-105F-E93F87F6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814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A4461-5097-83F9-C38E-D932F4585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4EDC6EB-2293-40A3-B378-1ABC54992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19418A4-F91E-0AB1-90A2-849A55D03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96F2EB1-F1FD-06D7-BF7A-4DA030632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2970680-EA52-0B3C-949A-4DAE2332E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DC1ED9A-4AEB-1814-DD4E-6B412EDA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1414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CDDD15-D703-2510-4718-93C573669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312E67B-91DD-5854-F99A-08FB169BB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6A87DB0-73DC-0CE4-C257-60F8391C4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EDBF3D73-2A87-725B-A706-BCAD1B57A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E841FDA-D298-F912-598E-0BFF4A03E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927A6DBF-B0F1-416A-FC98-3F879482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7F856369-0FDF-3EA9-E0F1-A4EF78E5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67FCA23E-6F9B-87A2-EED2-099B3788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938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0BA00-475C-5BF6-DDDF-71F79AF6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D7856BD-90C3-75E3-09CA-604D74674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F4956FD-FC69-3943-010C-13246DFC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8A328CA-D9E5-0D00-005A-C3DFE8B2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1560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AE545E3-2C2F-791A-A561-90D11E39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8FDFE00-EA06-F211-3135-33FCDA4A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E5D9658-7D2C-725A-FC1A-F746046A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0318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10F159-5A39-C085-0EE0-1DE27D48D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C0B7AA2-51A0-3A77-E1F9-C5D1E28E7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726750F-8F5D-5FEA-BE0C-541CB136D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D1C6802-203C-B486-746A-DA6254F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012DE56-E8CE-D27F-6C22-DE2E56A4A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190E432-CAB0-C1B1-3C51-00126518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834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B4A7C7-9B5A-B9DB-108F-821A4BE2C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75B4CD78-1758-C4C5-DB1E-CEB747CDB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A6EB69C4-D6A6-BFE4-ACEB-682B756D7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68FA488-D0CE-0D71-45E8-23FCFD01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E8BCA4F-1514-F5C4-99BF-8BB3897F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EDA1FFE-F874-3197-71AB-12735632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9930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BBF605-7239-9616-F778-33FDF42B3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207E4C9-AC79-B2B0-5582-FC630716D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3962442-4D02-8A12-A318-20A0845E2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64559FC-E43C-CB05-7D82-FEA09A57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EF6FBDD-0E54-D387-837D-3D6856DE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9590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12A8088B-B9E9-C429-D057-335BDE2A7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0EA8B80-036C-8959-9429-A14CE4C97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A634E41-BFE1-60C8-94D9-E1C016B2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7B43FD2-9D5D-51D7-6ADC-5EA6918C4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3BED034-BF6E-FBC3-498D-C8AC5029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499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32508C55-C134-59A7-E5F3-5181413EE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69088A1-D0DF-D466-4A60-6CCCAA858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6BE26F3-48CC-3CD1-1589-D7B7DD0AE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48D99-5A07-EC43-874B-9DFE6EBCE866}" type="datetimeFigureOut">
              <a:rPr lang="da-DK" smtClean="0"/>
              <a:t>13-04-2026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856C2E7-6F69-B4E2-1747-098FAC2B4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A088933-3125-C86A-7BF1-AFFAB6C71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E592F-6F1A-0E41-A727-3392A024A19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697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8" name="Rectangle 3097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0" name="Rectangle 3099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CCC8A0-F993-F276-6CAB-2E91B053B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60" y="5279511"/>
            <a:ext cx="9681882" cy="739880"/>
          </a:xfrm>
        </p:spPr>
        <p:txBody>
          <a:bodyPr anchor="b">
            <a:normAutofit/>
          </a:bodyPr>
          <a:lstStyle/>
          <a:p>
            <a:r>
              <a:rPr lang="da-DK" sz="3600">
                <a:solidFill>
                  <a:schemeClr val="tx1">
                    <a:lumMod val="85000"/>
                    <a:lumOff val="15000"/>
                  </a:schemeClr>
                </a:solidFill>
              </a:rPr>
              <a:t>Præsentation 7: Opgave 1 og 7.2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BBE6017-9330-3498-6450-82A1ED169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6447" y="6019391"/>
            <a:ext cx="7315199" cy="365125"/>
          </a:xfrm>
        </p:spPr>
        <p:txBody>
          <a:bodyPr anchor="t">
            <a:normAutofit/>
          </a:bodyPr>
          <a:lstStyle/>
          <a:p>
            <a:r>
              <a:rPr lang="da-DK" sz="1600">
                <a:solidFill>
                  <a:schemeClr val="tx1">
                    <a:lumMod val="85000"/>
                    <a:lumOff val="15000"/>
                  </a:schemeClr>
                </a:solidFill>
              </a:rPr>
              <a:t>Expected Goals Model (xG) &amp; Jura og ophavsret</a:t>
            </a:r>
          </a:p>
        </p:txBody>
      </p:sp>
      <p:pic>
        <p:nvPicPr>
          <p:cNvPr id="3076" name="Picture 4" descr="Celtic's sensible Tynecastle tactics and our best formation">
            <a:extLst>
              <a:ext uri="{FF2B5EF4-FFF2-40B4-BE49-F238E27FC236}">
                <a16:creationId xmlns:a16="http://schemas.microsoft.com/office/drawing/2014/main" id="{B503AA67-F69E-0857-EF78-F1D8666A5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95"/>
          <a:stretch>
            <a:fillRect/>
          </a:stretch>
        </p:blipFill>
        <p:spPr bwMode="auto"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81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270984-FFDF-FED7-687B-32F1ACC9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0"/>
            <a:ext cx="4361693" cy="1527049"/>
          </a:xfrm>
        </p:spPr>
        <p:txBody>
          <a:bodyPr anchor="b">
            <a:normAutofit/>
          </a:bodyPr>
          <a:lstStyle/>
          <a:p>
            <a:r>
              <a:rPr lang="da-DK" sz="3100" dirty="0"/>
              <a:t>Opgave 1.1: Opdeling i trænings- og testdata for skud	</a:t>
            </a:r>
          </a:p>
        </p:txBody>
      </p:sp>
      <p:pic>
        <p:nvPicPr>
          <p:cNvPr id="5" name="Picture 4" descr="Dartpil i midten af målskiven">
            <a:extLst>
              <a:ext uri="{FF2B5EF4-FFF2-40B4-BE49-F238E27FC236}">
                <a16:creationId xmlns:a16="http://schemas.microsoft.com/office/drawing/2014/main" id="{100C5362-DCBF-6EEC-4752-05D090BCF8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04" r="662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97579B-4B01-248A-4B53-CE89C0C43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658323"/>
            <a:ext cx="4361693" cy="40965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a-DK" sz="1800" dirty="0"/>
              <a:t>Karakteristika: Fodboldkampe indeholder ofte relativt få mål, ift. antal af skud </a:t>
            </a:r>
          </a:p>
          <a:p>
            <a:pPr>
              <a:lnSpc>
                <a:spcPct val="110000"/>
              </a:lnSpc>
            </a:pPr>
            <a:r>
              <a:rPr lang="da-DK" sz="1800" dirty="0"/>
              <a:t>Datasættet vil være ubalanceret og skævt: Langt flere ikke-mål end mål</a:t>
            </a:r>
          </a:p>
          <a:p>
            <a:pPr>
              <a:lnSpc>
                <a:spcPct val="110000"/>
              </a:lnSpc>
            </a:pPr>
            <a:r>
              <a:rPr lang="da-DK" sz="1800" dirty="0"/>
              <a:t>Med 4.492 skud er datamængden stor nok til at en 80/20 fordeling er fornuftig</a:t>
            </a:r>
          </a:p>
          <a:p>
            <a:pPr>
              <a:lnSpc>
                <a:spcPct val="110000"/>
              </a:lnSpc>
            </a:pPr>
            <a:r>
              <a:rPr lang="da-DK" sz="1800" dirty="0"/>
              <a:t>Der var 4.492 skud</a:t>
            </a:r>
          </a:p>
          <a:p>
            <a:pPr>
              <a:lnSpc>
                <a:spcPct val="110000"/>
              </a:lnSpc>
            </a:pPr>
            <a:r>
              <a:rPr lang="da-DK" sz="1800" dirty="0"/>
              <a:t>Der var 548 mål</a:t>
            </a:r>
          </a:p>
          <a:p>
            <a:pPr>
              <a:lnSpc>
                <a:spcPct val="110000"/>
              </a:lnSpc>
            </a:pPr>
            <a:r>
              <a:rPr lang="da-DK" sz="1800" dirty="0"/>
              <a:t>Andel mål: 0,1219</a:t>
            </a:r>
          </a:p>
          <a:p>
            <a:pPr>
              <a:lnSpc>
                <a:spcPct val="110000"/>
              </a:lnSpc>
            </a:pPr>
            <a:endParaRPr lang="da-DK" sz="18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4E0A9A05-5E0A-2B2D-335B-C900A6B31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811" y="1699957"/>
            <a:ext cx="5244084" cy="78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13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142102-B819-E12C-C884-E71271A5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0"/>
            <a:ext cx="4361693" cy="1527049"/>
          </a:xfrm>
        </p:spPr>
        <p:txBody>
          <a:bodyPr anchor="b">
            <a:normAutofit/>
          </a:bodyPr>
          <a:lstStyle/>
          <a:p>
            <a:r>
              <a:rPr lang="da-DK" sz="2500" dirty="0"/>
              <a:t>Opgave 1.2: Forklarende variable, forklaring og grafiske illustrationer, beskrivende statistik</a:t>
            </a:r>
          </a:p>
        </p:txBody>
      </p:sp>
      <p:pic>
        <p:nvPicPr>
          <p:cNvPr id="5" name="Picture 4" descr="Komplekse matematiske formler på en tavle">
            <a:extLst>
              <a:ext uri="{FF2B5EF4-FFF2-40B4-BE49-F238E27FC236}">
                <a16:creationId xmlns:a16="http://schemas.microsoft.com/office/drawing/2014/main" id="{83CC42EE-727C-3536-1599-A74C489F45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41" r="9117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0EEF7857-B33D-6263-71FF-BDF10D7212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23007" y="2761486"/>
                <a:ext cx="4361693" cy="409651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da-DK" sz="1300" dirty="0"/>
                  <a:t>Vi bruger afstand til mål, vinkel til mål, kropsdel, længde på angreb og form for angreb</a:t>
                </a:r>
              </a:p>
              <a:p>
                <a:pPr>
                  <a:lnSpc>
                    <a:spcPct val="110000"/>
                  </a:lnSpc>
                </a:pPr>
                <a:r>
                  <a:rPr lang="da-DK" sz="1300" dirty="0"/>
                  <a:t>Den euklidiske distance: den euklidiske distance finder den korteste afstand mellem to punkter i et koordinatsystem. Dette er bygget på Pythagoras sætning der siger a^2 + b^2 = c^2. I vores tilfælde siger vi målet i 105, 34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da-DK" sz="1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da-DK" sz="130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a-DK" sz="13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a-DK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a-DK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sz="13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da-DK" sz="13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sz="13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da-DK" sz="13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sz="130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a-DK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a-DK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a-DK" sz="13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da-DK" sz="13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3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a-DK" sz="13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da-DK" sz="13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da-DK" sz="1300" dirty="0"/>
              </a:p>
              <a:p>
                <a:pPr>
                  <a:lnSpc>
                    <a:spcPct val="110000"/>
                  </a:lnSpc>
                </a:pPr>
                <a:r>
                  <a:rPr lang="da-DK" sz="1300" dirty="0"/>
                  <a:t>Vi bruger cosinusrelationen efter vi har afstandene til stolperne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a-DK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3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da-DK" sz="13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sz="13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3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da-DK" sz="13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sz="13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da-DK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3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da-DK" sz="13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sz="1300">
                        <a:latin typeface="Cambria Math" panose="02040503050406030204" pitchFamily="18" charset="0"/>
                      </a:rPr>
                      <m:t>−2</m:t>
                    </m:r>
                    <m:r>
                      <a:rPr lang="da-DK" sz="1300" i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da-DK" sz="1300" b="0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da-DK" sz="1300">
                        <a:latin typeface="Cambria Math" panose="02040503050406030204" pitchFamily="18" charset="0"/>
                      </a:rPr>
                      <m:t>cos</m:t>
                    </m:r>
                    <m:r>
                      <a:rPr lang="da-DK" sz="130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da-DK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13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da-DK" sz="1300" dirty="0"/>
              </a:p>
              <a:p>
                <a:pPr>
                  <a:lnSpc>
                    <a:spcPct val="110000"/>
                  </a:lnSpc>
                </a:pPr>
                <a:r>
                  <a:rPr lang="da-DK" sz="1300" dirty="0"/>
                  <a:t>Vi bruger den inverse cosinus, </a:t>
                </a:r>
                <a:r>
                  <a:rPr lang="da-DK" sz="1300" dirty="0" err="1"/>
                  <a:t>acos</a:t>
                </a:r>
                <a:r>
                  <a:rPr lang="da-DK" sz="1300" dirty="0"/>
                  <a:t>(). Output er nu i radianer</a:t>
                </a:r>
              </a:p>
              <a:p>
                <a:pPr>
                  <a:lnSpc>
                    <a:spcPct val="110000"/>
                  </a:lnSpc>
                </a:pPr>
                <a:r>
                  <a:rPr lang="da-DK" sz="1300" dirty="0"/>
                  <a:t>Vi bruger angle rad * 180 / pi</a:t>
                </a:r>
              </a:p>
              <a:p>
                <a:pPr>
                  <a:lnSpc>
                    <a:spcPct val="110000"/>
                  </a:lnSpc>
                </a:pPr>
                <a:endParaRPr lang="da-DK" sz="1300" dirty="0"/>
              </a:p>
              <a:p>
                <a:pPr>
                  <a:lnSpc>
                    <a:spcPct val="110000"/>
                  </a:lnSpc>
                </a:pPr>
                <a:endParaRPr lang="da-DK" sz="1300" dirty="0"/>
              </a:p>
              <a:p>
                <a:pPr>
                  <a:lnSpc>
                    <a:spcPct val="110000"/>
                  </a:lnSpc>
                </a:pPr>
                <a:endParaRPr lang="da-DK" sz="13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da-DK" sz="1300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0EEF7857-B33D-6263-71FF-BDF10D7212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23007" y="2761486"/>
                <a:ext cx="4361693" cy="409651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EBFF2FF4-4C34-CDA5-3C3E-E4C181CA2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9" y="1674950"/>
            <a:ext cx="4904231" cy="72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15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AEAA99-C5EC-34F9-49D9-F81903319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5" y="166960"/>
            <a:ext cx="3331525" cy="1616203"/>
          </a:xfrm>
        </p:spPr>
        <p:txBody>
          <a:bodyPr anchor="b">
            <a:normAutofit/>
          </a:bodyPr>
          <a:lstStyle/>
          <a:p>
            <a:r>
              <a:rPr lang="da-DK" sz="2700" dirty="0"/>
              <a:t>1.2: Forklarende variable, forklaring og grafiske illustrationer, beskrivende statistik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6EC3E79-B772-58A8-4F6C-D3F6CA784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4" y="2861270"/>
            <a:ext cx="3331526" cy="3447832"/>
          </a:xfrm>
        </p:spPr>
        <p:txBody>
          <a:bodyPr anchor="t">
            <a:normAutofit/>
          </a:bodyPr>
          <a:lstStyle/>
          <a:p>
            <a:r>
              <a:rPr lang="da-DK" sz="2000" dirty="0"/>
              <a:t>Kropsdel: Højre fod, venstre fod, eller hoved/andet</a:t>
            </a:r>
          </a:p>
          <a:p>
            <a:r>
              <a:rPr lang="da-DK" sz="2000" dirty="0"/>
              <a:t>Længde på angreb: Hvor lang tid går der inden skuddet sendes afsted</a:t>
            </a:r>
          </a:p>
          <a:p>
            <a:r>
              <a:rPr lang="da-DK" sz="2000" dirty="0"/>
              <a:t>Form for angreb: Open </a:t>
            </a:r>
            <a:r>
              <a:rPr lang="da-DK" sz="2000" dirty="0" err="1"/>
              <a:t>play</a:t>
            </a:r>
            <a:r>
              <a:rPr lang="da-DK" sz="2000" dirty="0"/>
              <a:t>, corner, </a:t>
            </a:r>
            <a:r>
              <a:rPr lang="da-DK" sz="2000" dirty="0" err="1"/>
              <a:t>free</a:t>
            </a:r>
            <a:r>
              <a:rPr lang="da-DK" sz="2000" dirty="0"/>
              <a:t> kick or </a:t>
            </a:r>
            <a:r>
              <a:rPr lang="da-DK" sz="2000" dirty="0" err="1"/>
              <a:t>penalty</a:t>
            </a:r>
            <a:r>
              <a:rPr lang="da-DK" sz="2000" dirty="0"/>
              <a:t> eller </a:t>
            </a:r>
            <a:r>
              <a:rPr lang="da-DK" sz="2000" dirty="0" err="1"/>
              <a:t>restart_other</a:t>
            </a:r>
            <a:endParaRPr lang="da-DK" sz="2000" dirty="0"/>
          </a:p>
          <a:p>
            <a:endParaRPr lang="da-DK" sz="20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533E8AEC-E997-5A12-05B9-88E380CD0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761" y="1098045"/>
            <a:ext cx="2766550" cy="2206323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3FC360AD-2F96-2225-D5BA-DCC37AC06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761" y="3482025"/>
            <a:ext cx="2766550" cy="2206323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8E692730-F0D6-4E24-AD32-C4BA811E5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780" y="2078165"/>
            <a:ext cx="3331526" cy="2656891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004A52F-AB30-BEC5-0EF5-6AA0907C7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69" y="2078165"/>
            <a:ext cx="4208220" cy="62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86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1B957-9115-BEA2-E74D-9C17024F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da-DK" sz="3300" dirty="0"/>
              <a:t>1.3: Forklarende variable og effekt på om et skud bliver til et mål </a:t>
            </a:r>
          </a:p>
        </p:txBody>
      </p:sp>
      <p:pic>
        <p:nvPicPr>
          <p:cNvPr id="5" name="Picture 4" descr="En væg, der er malet med en pil og en målskiven">
            <a:extLst>
              <a:ext uri="{FF2B5EF4-FFF2-40B4-BE49-F238E27FC236}">
                <a16:creationId xmlns:a16="http://schemas.microsoft.com/office/drawing/2014/main" id="{6818ABDE-91E1-043A-BA76-3D0821F62A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06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FFFD0DA-050C-37C6-5B4B-040844F22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079" y="3750006"/>
            <a:ext cx="5916169" cy="2768026"/>
          </a:xfrm>
        </p:spPr>
        <p:txBody>
          <a:bodyPr>
            <a:normAutofit/>
          </a:bodyPr>
          <a:lstStyle/>
          <a:p>
            <a:r>
              <a:rPr lang="da-DK" sz="1800" dirty="0"/>
              <a:t>Vinkel til mål: To i én, hvor tæt spilleren er på mål og hvor centralt foran mål</a:t>
            </a:r>
          </a:p>
          <a:p>
            <a:r>
              <a:rPr lang="da-DK" sz="1800" dirty="0"/>
              <a:t>Afstand til mål: Jo tættere man er på mål, jo større chance er der for man scorer.</a:t>
            </a:r>
          </a:p>
          <a:p>
            <a:r>
              <a:rPr lang="da-DK" sz="1800" dirty="0"/>
              <a:t>Kropsdel: Det er lettere at få kraft i afslutningen med foden, lettere at finjustere boldens bane mod mål. </a:t>
            </a:r>
          </a:p>
          <a:p>
            <a:endParaRPr lang="da-DK" sz="18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DDF018CE-61C2-5E70-8726-46F271B14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371" y="2391508"/>
            <a:ext cx="6000968" cy="87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0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C39DCC-B3DA-3586-4823-64C4D0B65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da-DK" sz="3300"/>
              <a:t>1.4: Forudsige om et givent skud bliver til et mål</a:t>
            </a:r>
          </a:p>
        </p:txBody>
      </p:sp>
      <p:pic>
        <p:nvPicPr>
          <p:cNvPr id="5" name="Picture 4" descr="Rød legetøj-person foran to linjer af hvide tal">
            <a:extLst>
              <a:ext uri="{FF2B5EF4-FFF2-40B4-BE49-F238E27FC236}">
                <a16:creationId xmlns:a16="http://schemas.microsoft.com/office/drawing/2014/main" id="{6BC6E18B-ED20-0E4C-D58A-14470B7630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89" r="24534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10CCDB0-1925-6F12-BB76-02F3BFA75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3914128"/>
            <a:ext cx="5916169" cy="4095078"/>
          </a:xfrm>
        </p:spPr>
        <p:txBody>
          <a:bodyPr>
            <a:normAutofit/>
          </a:bodyPr>
          <a:lstStyle/>
          <a:p>
            <a:r>
              <a:rPr lang="da-DK" sz="1800" dirty="0"/>
              <a:t>Den model der er bedst til at forudsige mål, er </a:t>
            </a:r>
            <a:r>
              <a:rPr lang="da-DK" sz="1800" dirty="0" err="1"/>
              <a:t>XGBoost</a:t>
            </a:r>
            <a:r>
              <a:rPr lang="da-DK" sz="1800" dirty="0"/>
              <a:t>.</a:t>
            </a:r>
          </a:p>
          <a:p>
            <a:r>
              <a:rPr lang="da-DK" sz="1800" dirty="0" err="1"/>
              <a:t>Xg</a:t>
            </a:r>
            <a:r>
              <a:rPr lang="da-DK" sz="1800" dirty="0"/>
              <a:t> boost står for </a:t>
            </a:r>
            <a:r>
              <a:rPr lang="da-DK" sz="1800" dirty="0" err="1"/>
              <a:t>extreme</a:t>
            </a:r>
            <a:r>
              <a:rPr lang="da-DK" sz="1800" dirty="0"/>
              <a:t> gradient </a:t>
            </a:r>
            <a:r>
              <a:rPr lang="da-DK" sz="1800" dirty="0" err="1"/>
              <a:t>boosting</a:t>
            </a:r>
            <a:r>
              <a:rPr lang="da-DK" sz="1800" dirty="0"/>
              <a:t>; en ensemble model der bygger mange små beslutningstræer, lærer af sine fejl løbende og kombinerer dem til en stærk model. </a:t>
            </a:r>
          </a:p>
          <a:p>
            <a:endParaRPr lang="da-DK" sz="18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938AF8A1-2AD5-C4E0-F751-5F4A546E1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532" y="2466140"/>
            <a:ext cx="5916169" cy="76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3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9682D-A11C-CAA2-ABD5-806CE0ED4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1.5: Konklusioner på </a:t>
            </a:r>
            <a:r>
              <a:rPr lang="da-DK" dirty="0" err="1"/>
              <a:t>xG</a:t>
            </a:r>
            <a:r>
              <a:rPr lang="da-DK" dirty="0"/>
              <a:t> model</a:t>
            </a:r>
          </a:p>
        </p:txBody>
      </p:sp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C45A5253-6DEC-9B84-B980-7D4D7F40C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587" y="2832100"/>
            <a:ext cx="90297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23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D3D8CC-3971-93F9-4465-16B859B4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1.6: I virkeligheden</a:t>
            </a:r>
          </a:p>
        </p:txBody>
      </p:sp>
      <p:pic>
        <p:nvPicPr>
          <p:cNvPr id="4" name="Pladsholder til indhold 3">
            <a:extLst>
              <a:ext uri="{FF2B5EF4-FFF2-40B4-BE49-F238E27FC236}">
                <a16:creationId xmlns:a16="http://schemas.microsoft.com/office/drawing/2014/main" id="{F54C920A-A2D5-6A5B-D77C-D6C5E836D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831" y="3548856"/>
            <a:ext cx="87376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9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30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45" name="Freeform: Shape 1032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Skal jeg selv betale - Love og Paragraffer - Ergoterapeut Lone Olsen">
            <a:extLst>
              <a:ext uri="{FF2B5EF4-FFF2-40B4-BE49-F238E27FC236}">
                <a16:creationId xmlns:a16="http://schemas.microsoft.com/office/drawing/2014/main" id="{2A3CB3BF-D58A-9C03-13A1-E23C4ED10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1053" y="906182"/>
            <a:ext cx="4777381" cy="487292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Arc 1034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4F94B5-3B34-F303-39F9-CDCC90502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5"/>
            <a:ext cx="5257800" cy="1325563"/>
          </a:xfrm>
        </p:spPr>
        <p:txBody>
          <a:bodyPr>
            <a:normAutofit/>
          </a:bodyPr>
          <a:lstStyle/>
          <a:p>
            <a:r>
              <a:rPr lang="da-DK" dirty="0"/>
              <a:t>7.2: Må dataene deles eller offentliggøres?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5A358CA-A78B-4A4D-F94C-B3918B2DF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12325"/>
            <a:ext cx="5257800" cy="4192520"/>
          </a:xfrm>
        </p:spPr>
        <p:txBody>
          <a:bodyPr>
            <a:normAutofit/>
          </a:bodyPr>
          <a:lstStyle/>
          <a:p>
            <a:r>
              <a:rPr lang="da-DK" sz="1800" dirty="0"/>
              <a:t>Forbudt: Kopiere eller videreformidle væsentlige dele af en database uden tilladelse jvf. Ophavsretsloven §71 stk. 1</a:t>
            </a:r>
          </a:p>
          <a:p>
            <a:r>
              <a:rPr lang="da-DK" sz="1800" dirty="0"/>
              <a:t>Ophavsretsloven giver eneret til at fremstille eksemplarer og gøre materiale tilgængeligt for almenheden jvf. Ophavsretsloven §2</a:t>
            </a:r>
          </a:p>
          <a:p>
            <a:r>
              <a:rPr lang="da-DK" sz="1800" dirty="0"/>
              <a:t>For vores vedkommende: Rå data fra </a:t>
            </a:r>
            <a:r>
              <a:rPr lang="da-DK" sz="1800" dirty="0" err="1"/>
              <a:t>Wyscout</a:t>
            </a:r>
            <a:r>
              <a:rPr lang="da-DK" sz="1800" dirty="0"/>
              <a:t> og Statsbomb må ikke uden videre deles med eksterne parter eller offentliggøres i deres oprindelige form</a:t>
            </a:r>
          </a:p>
          <a:p>
            <a:r>
              <a:rPr lang="da-DK" sz="1800" dirty="0"/>
              <a:t>Bearbejdede data: Visualiseringer, modeller og analytiske konklusioner vil ofte kunne deles så længe de ikke muliggør rekonstruktion af den oprindelige database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9A246AEB-092D-D45E-719C-265273C1C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50" y="1399681"/>
            <a:ext cx="5380149" cy="8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63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3A95D-B9C9-1E15-2132-D3218E02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4" y="146755"/>
            <a:ext cx="5291663" cy="1329090"/>
          </a:xfrm>
        </p:spPr>
        <p:txBody>
          <a:bodyPr anchor="b">
            <a:normAutofit/>
          </a:bodyPr>
          <a:lstStyle/>
          <a:p>
            <a:r>
              <a:rPr lang="da-DK" sz="4000" dirty="0"/>
              <a:t>7.2: Må dataene deles eller offentliggøres?</a:t>
            </a:r>
          </a:p>
        </p:txBody>
      </p:sp>
      <p:pic>
        <p:nvPicPr>
          <p:cNvPr id="2050" name="Picture 2" descr="Etik i historieundervisningen: Vi skal turde være usikre - Folkeskolen">
            <a:extLst>
              <a:ext uri="{FF2B5EF4-FFF2-40B4-BE49-F238E27FC236}">
                <a16:creationId xmlns:a16="http://schemas.microsoft.com/office/drawing/2014/main" id="{7C02CC8A-72EC-E23D-7CEE-1CC8F23C6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58" r="31195" b="-1"/>
          <a:stretch>
            <a:fillRect/>
          </a:stretch>
        </p:blipFill>
        <p:spPr bwMode="auto"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1FE92EF-042A-92D2-1554-F005AC5FD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958396"/>
            <a:ext cx="5291663" cy="3752849"/>
          </a:xfrm>
        </p:spPr>
        <p:txBody>
          <a:bodyPr>
            <a:normAutofit/>
          </a:bodyPr>
          <a:lstStyle/>
          <a:p>
            <a:r>
              <a:rPr lang="da-DK" sz="1400" dirty="0"/>
              <a:t>Kontraktretten: Data tilgængeligt; Specifikke begrænsninger for anvendelse, deling og kommerciel udnyttelse jvf. Aftaleloven § 1</a:t>
            </a:r>
          </a:p>
          <a:p>
            <a:r>
              <a:rPr lang="da-DK" sz="1400" dirty="0"/>
              <a:t>I praksis: Den juridiske vurdering; Afhænger af ophavsret og vilkår indgået ved adgangen til dataene.</a:t>
            </a:r>
          </a:p>
          <a:p>
            <a:r>
              <a:rPr lang="da-DK" sz="1400" dirty="0"/>
              <a:t>For Brøndby IF: Central del af den sportslige konkurrence</a:t>
            </a:r>
          </a:p>
          <a:p>
            <a:r>
              <a:rPr lang="da-DK" sz="1400" dirty="0"/>
              <a:t>Dataanalyser kan betragtes som strategiske aktiver og der anvendes fortrolighedsaftaler adgangsbegrænsninger og interne systemer</a:t>
            </a:r>
          </a:p>
          <a:p>
            <a:r>
              <a:rPr lang="da-DK" sz="1400" dirty="0"/>
              <a:t>Det brede blik: Deling af analyser kan bidrage til vidensdeling og innovation inden for sportsanalyse . På den anden side kan skade konkurrencefordel. Delingsbegrænsninger både juridisk men også etisk</a:t>
            </a:r>
          </a:p>
          <a:p>
            <a:r>
              <a:rPr lang="da-DK" sz="1400" dirty="0"/>
              <a:t>Sum: Data må ikke deles uden hensyn til rettigheder og aftaler. Råderum: Dele analyser i bearbejdet form</a:t>
            </a:r>
          </a:p>
          <a:p>
            <a:endParaRPr lang="da-DK" sz="14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EB5D3299-AD98-D06F-E5F0-D5B4B4BAC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734" y="1659703"/>
            <a:ext cx="5624689" cy="93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90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610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1" baseType="lpstr">
      <vt:lpstr>Office-tema</vt:lpstr>
      <vt:lpstr>Præsentation 7: Opgave 1 og 7.2</vt:lpstr>
      <vt:lpstr>Opgave 1.1: Opdeling i trænings- og testdata for skud </vt:lpstr>
      <vt:lpstr>Opgave 1.2: Forklarende variable, forklaring og grafiske illustrationer, beskrivende statistik</vt:lpstr>
      <vt:lpstr>1.2: Forklarende variable, forklaring og grafiske illustrationer, beskrivende statistik</vt:lpstr>
      <vt:lpstr>1.3: Forklarende variable og effekt på om et skud bliver til et mål </vt:lpstr>
      <vt:lpstr>1.4: Forudsige om et givent skud bliver til et mål</vt:lpstr>
      <vt:lpstr>1.5: Konklusioner på xG model</vt:lpstr>
      <vt:lpstr>1.6: I virkeligheden</vt:lpstr>
      <vt:lpstr>7.2: Må dataene deles eller offentliggøres?</vt:lpstr>
      <vt:lpstr>7.2: Må dataene deles eller offentliggøres?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Kalle Bülow Kristensen</dc:creator>
  <cp:lastModifiedBy>Kalle Bülow Kristensen</cp:lastModifiedBy>
  <cp:revision>3</cp:revision>
  <dcterms:created xsi:type="dcterms:W3CDTF">2026-04-11T12:33:56Z</dcterms:created>
  <dcterms:modified xsi:type="dcterms:W3CDTF">2026-04-13T17:43:14Z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2026-04-11T19:30:17Z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6722c422-90e7-4881-a009-325d8f3b61ca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