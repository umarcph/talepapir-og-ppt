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9" r:id="rId4"/>
  </p:sldMasterIdLst>
  <p:notesMasterIdLst>
    <p:notesMasterId r:id="rId15"/>
  </p:notesMasterIdLst>
  <p:sldIdLst>
    <p:sldId id="256" r:id="rId5"/>
    <p:sldId id="265" r:id="rId6"/>
    <p:sldId id="257" r:id="rId7"/>
    <p:sldId id="258" r:id="rId8"/>
    <p:sldId id="259" r:id="rId9"/>
    <p:sldId id="260" r:id="rId10"/>
    <p:sldId id="261" r:id="rId11"/>
    <p:sldId id="262" r:id="rId12"/>
    <p:sldId id="263" r:id="rId13"/>
    <p:sldId id="264" r:id="rId14"/>
  </p:sldIdLst>
  <p:sldSz cx="12192000" cy="6858000"/>
  <p:notesSz cx="6858000" cy="9144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BA6489-DD21-4FAC-AB9F-B6A33F850584}" v="74" dt="2026-04-12T15:07:28.0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0" autoAdjust="0"/>
    <p:restoredTop sz="94660"/>
  </p:normalViewPr>
  <p:slideViewPr>
    <p:cSldViewPr snapToGrid="0">
      <p:cViewPr varScale="1">
        <p:scale>
          <a:sx n="72" d="100"/>
          <a:sy n="72" d="100"/>
        </p:scale>
        <p:origin x="88" y="3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a-DK"/>
          </a:p>
        </p:txBody>
      </p:sp>
      <p:sp>
        <p:nvSpPr>
          <p:cNvPr id="3" name="Pladsholder til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DA3EC6-78A7-47BC-A4B9-B1A97172E032}" type="datetimeFigureOut">
              <a:rPr lang="da-DK" smtClean="0"/>
              <a:t>13-04-2026</a:t>
            </a:fld>
            <a:endParaRPr lang="da-DK"/>
          </a:p>
        </p:txBody>
      </p:sp>
      <p:sp>
        <p:nvSpPr>
          <p:cNvPr id="4" name="Pladsholder til slidebille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a-DK"/>
          </a:p>
        </p:txBody>
      </p:sp>
      <p:sp>
        <p:nvSpPr>
          <p:cNvPr id="5" name="Pladsholder til no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6" name="Pladsholder til sidefod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a-DK"/>
          </a:p>
        </p:txBody>
      </p:sp>
      <p:sp>
        <p:nvSpPr>
          <p:cNvPr id="7" name="Pladsholder til sli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2F2F66-D096-4F9A-9CFB-42A580271514}" type="slidenum">
              <a:rPr lang="da-DK" smtClean="0"/>
              <a:t>‹nr.›</a:t>
            </a:fld>
            <a:endParaRPr lang="da-DK"/>
          </a:p>
        </p:txBody>
      </p:sp>
    </p:spTree>
    <p:extLst>
      <p:ext uri="{BB962C8B-B14F-4D97-AF65-F5344CB8AC3E}">
        <p14:creationId xmlns:p14="http://schemas.microsoft.com/office/powerpoint/2010/main" val="16029650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da-DK" dirty="0"/>
              <a:t>“Vores data kommer fra </a:t>
            </a:r>
            <a:r>
              <a:rPr lang="da-DK" dirty="0" err="1"/>
              <a:t>StatsBomb</a:t>
            </a:r>
            <a:r>
              <a:rPr lang="da-DK" dirty="0"/>
              <a:t> open data, som er et eventbaseret fodbolddatasæt. Vi har sammenlignet kvindernes og mændenes VM ved at udtage 20 tilfældige kampe fra hver turnering. Derefter hentede vi eventdata for kampene og filtrerede datasættet ned til skud. Til sidst udvidede vi datasættet med egne beregninger som afstand til mål og en indikator for såkaldte ego-skud.”</a:t>
            </a:r>
          </a:p>
        </p:txBody>
      </p:sp>
      <p:sp>
        <p:nvSpPr>
          <p:cNvPr id="4" name="Pladsholder til slidenummer 3"/>
          <p:cNvSpPr>
            <a:spLocks noGrp="1"/>
          </p:cNvSpPr>
          <p:nvPr>
            <p:ph type="sldNum" sz="quarter" idx="5"/>
          </p:nvPr>
        </p:nvSpPr>
        <p:spPr/>
        <p:txBody>
          <a:bodyPr/>
          <a:lstStyle/>
          <a:p>
            <a:fld id="{512F2F66-D096-4F9A-9CFB-42A580271514}" type="slidenum">
              <a:rPr lang="da-DK" smtClean="0"/>
              <a:t>2</a:t>
            </a:fld>
            <a:endParaRPr lang="da-DK"/>
          </a:p>
        </p:txBody>
      </p:sp>
    </p:spTree>
    <p:extLst>
      <p:ext uri="{BB962C8B-B14F-4D97-AF65-F5344CB8AC3E}">
        <p14:creationId xmlns:p14="http://schemas.microsoft.com/office/powerpoint/2010/main" val="13685078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4/13/2026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36082712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4/13/2026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29044773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4/13/2026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36293797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4/13/2026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17152613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4/13/2026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30769892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4/13/2026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17002525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4/13/2026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18726881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4/13/2026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889982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4/13/2026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34871471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4/13/2026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27181477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4/13/2026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20240680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4/13/2026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‹nr.›</a:t>
            </a:fld>
            <a:endParaRPr lang="en-US"/>
          </a:p>
        </p:txBody>
      </p:sp>
    </p:spTree>
    <p:extLst>
      <p:ext uri="{BB962C8B-B14F-4D97-AF65-F5344CB8AC3E}">
        <p14:creationId xmlns:p14="http://schemas.microsoft.com/office/powerpoint/2010/main" val="2628650444"/>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2" r:id="rId6"/>
    <p:sldLayoutId id="2147483698" r:id="rId7"/>
    <p:sldLayoutId id="2147483699" r:id="rId8"/>
    <p:sldLayoutId id="2147483700" r:id="rId9"/>
    <p:sldLayoutId id="2147483701" r:id="rId10"/>
    <p:sldLayoutId id="2147483703"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7" name="Rectangle 5126">
            <a:extLst>
              <a:ext uri="{FF2B5EF4-FFF2-40B4-BE49-F238E27FC236}">
                <a16:creationId xmlns:a16="http://schemas.microsoft.com/office/drawing/2014/main" id="{7A875D55-4A80-43E9-38F6-27E366493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2" name="Picture 2" descr="Hudl Statsbomb Release Free Euro 2024 Data">
            <a:extLst>
              <a:ext uri="{FF2B5EF4-FFF2-40B4-BE49-F238E27FC236}">
                <a16:creationId xmlns:a16="http://schemas.microsoft.com/office/drawing/2014/main" id="{29CB2A45-5129-F0EE-29F9-301918F5A9C5}"/>
              </a:ext>
            </a:extLst>
          </p:cNvPr>
          <p:cNvPicPr>
            <a:picLocks noChangeAspect="1" noChangeArrowheads="1"/>
          </p:cNvPicPr>
          <p:nvPr/>
        </p:nvPicPr>
        <p:blipFill>
          <a:blip r:embed="rId2">
            <a:alphaModFix amt="60000"/>
            <a:extLst>
              <a:ext uri="{28A0092B-C50C-407E-A947-70E740481C1C}">
                <a14:useLocalDpi xmlns:a14="http://schemas.microsoft.com/office/drawing/2010/main" val="0"/>
              </a:ext>
            </a:extLst>
          </a:blip>
          <a:srcRect t="9269" b="6462"/>
          <a:stretch>
            <a:fillRect/>
          </a:stretch>
        </p:blipFill>
        <p:spPr bwMode="auto">
          <a:xfrm>
            <a:off x="1" y="1"/>
            <a:ext cx="12192000" cy="6857999"/>
          </a:xfrm>
          <a:prstGeom prst="rect">
            <a:avLst/>
          </a:prstGeom>
          <a:noFill/>
          <a:extLst>
            <a:ext uri="{909E8E84-426E-40DD-AFC4-6F175D3DCCD1}">
              <a14:hiddenFill xmlns:a14="http://schemas.microsoft.com/office/drawing/2010/main">
                <a:solidFill>
                  <a:srgbClr val="FFFFFF"/>
                </a:solidFill>
              </a14:hiddenFill>
            </a:ext>
          </a:extLst>
        </p:spPr>
      </p:pic>
      <p:sp>
        <p:nvSpPr>
          <p:cNvPr id="2" name="Titel 1">
            <a:extLst>
              <a:ext uri="{FF2B5EF4-FFF2-40B4-BE49-F238E27FC236}">
                <a16:creationId xmlns:a16="http://schemas.microsoft.com/office/drawing/2014/main" id="{E905E45E-7B17-267A-007C-A07D3DC7BA88}"/>
              </a:ext>
            </a:extLst>
          </p:cNvPr>
          <p:cNvSpPr>
            <a:spLocks noGrp="1"/>
          </p:cNvSpPr>
          <p:nvPr>
            <p:ph type="ctrTitle"/>
          </p:nvPr>
        </p:nvSpPr>
        <p:spPr>
          <a:xfrm>
            <a:off x="2301923" y="1482602"/>
            <a:ext cx="7588155" cy="2236264"/>
          </a:xfrm>
        </p:spPr>
        <p:txBody>
          <a:bodyPr>
            <a:normAutofit/>
          </a:bodyPr>
          <a:lstStyle/>
          <a:p>
            <a:r>
              <a:rPr lang="da-DK" sz="5400">
                <a:solidFill>
                  <a:srgbClr val="FFFFFF"/>
                </a:solidFill>
              </a:rPr>
              <a:t>Opgave 5 + 7.3</a:t>
            </a:r>
          </a:p>
        </p:txBody>
      </p:sp>
      <p:sp>
        <p:nvSpPr>
          <p:cNvPr id="3" name="Undertitel 2">
            <a:extLst>
              <a:ext uri="{FF2B5EF4-FFF2-40B4-BE49-F238E27FC236}">
                <a16:creationId xmlns:a16="http://schemas.microsoft.com/office/drawing/2014/main" id="{61A44F51-2A1D-9780-894A-62FF90C2294B}"/>
              </a:ext>
            </a:extLst>
          </p:cNvPr>
          <p:cNvSpPr>
            <a:spLocks noGrp="1"/>
          </p:cNvSpPr>
          <p:nvPr>
            <p:ph type="subTitle" idx="1"/>
          </p:nvPr>
        </p:nvSpPr>
        <p:spPr>
          <a:xfrm>
            <a:off x="2301923" y="3793937"/>
            <a:ext cx="7588155" cy="1414091"/>
          </a:xfrm>
        </p:spPr>
        <p:txBody>
          <a:bodyPr>
            <a:normAutofit/>
          </a:bodyPr>
          <a:lstStyle/>
          <a:p>
            <a:r>
              <a:rPr lang="da-DK" sz="2200">
                <a:solidFill>
                  <a:srgbClr val="FFFFFF"/>
                </a:solidFill>
              </a:rPr>
              <a:t>Gruppe 3</a:t>
            </a:r>
          </a:p>
        </p:txBody>
      </p:sp>
    </p:spTree>
    <p:extLst>
      <p:ext uri="{BB962C8B-B14F-4D97-AF65-F5344CB8AC3E}">
        <p14:creationId xmlns:p14="http://schemas.microsoft.com/office/powerpoint/2010/main" val="312793662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205DCA2C-5DA4-65BB-B923-A0D8E2717A74}"/>
              </a:ext>
            </a:extLst>
          </p:cNvPr>
          <p:cNvSpPr>
            <a:spLocks noGrp="1"/>
          </p:cNvSpPr>
          <p:nvPr>
            <p:ph type="title"/>
          </p:nvPr>
        </p:nvSpPr>
        <p:spPr>
          <a:xfrm>
            <a:off x="612648" y="1114923"/>
            <a:ext cx="4621553" cy="1360728"/>
          </a:xfrm>
        </p:spPr>
        <p:txBody>
          <a:bodyPr anchor="b">
            <a:normAutofit/>
          </a:bodyPr>
          <a:lstStyle/>
          <a:p>
            <a:r>
              <a:rPr lang="da-DK" dirty="0"/>
              <a:t>Data og datasæt</a:t>
            </a:r>
          </a:p>
        </p:txBody>
      </p:sp>
      <p:sp>
        <p:nvSpPr>
          <p:cNvPr id="3" name="Pladsholder til indhold 2">
            <a:extLst>
              <a:ext uri="{FF2B5EF4-FFF2-40B4-BE49-F238E27FC236}">
                <a16:creationId xmlns:a16="http://schemas.microsoft.com/office/drawing/2014/main" id="{575E20D0-ED93-B2EA-9762-4AFB31B6084D}"/>
              </a:ext>
            </a:extLst>
          </p:cNvPr>
          <p:cNvSpPr>
            <a:spLocks noGrp="1"/>
          </p:cNvSpPr>
          <p:nvPr>
            <p:ph idx="1"/>
          </p:nvPr>
        </p:nvSpPr>
        <p:spPr>
          <a:xfrm>
            <a:off x="612648" y="2584058"/>
            <a:ext cx="4621553" cy="3159018"/>
          </a:xfrm>
        </p:spPr>
        <p:txBody>
          <a:bodyPr>
            <a:normAutofit/>
          </a:bodyPr>
          <a:lstStyle/>
          <a:p>
            <a:pPr>
              <a:lnSpc>
                <a:spcPct val="110000"/>
              </a:lnSpc>
            </a:pPr>
            <a:r>
              <a:rPr lang="da-DK" sz="1100" dirty="0"/>
              <a:t>Data stammer fra </a:t>
            </a:r>
            <a:r>
              <a:rPr lang="da-DK" sz="1100" b="1" dirty="0" err="1"/>
              <a:t>StatsBomb</a:t>
            </a:r>
            <a:r>
              <a:rPr lang="da-DK" sz="1100" b="1" dirty="0"/>
              <a:t> open data</a:t>
            </a:r>
            <a:endParaRPr lang="da-DK" sz="1100" dirty="0"/>
          </a:p>
          <a:p>
            <a:pPr>
              <a:lnSpc>
                <a:spcPct val="110000"/>
              </a:lnSpc>
            </a:pPr>
            <a:r>
              <a:rPr lang="da-DK" sz="1100" dirty="0"/>
              <a:t>Vi sammenligner </a:t>
            </a:r>
            <a:r>
              <a:rPr lang="da-DK" sz="1100" b="1" dirty="0" err="1"/>
              <a:t>Women’s</a:t>
            </a:r>
            <a:r>
              <a:rPr lang="da-DK" sz="1100" b="1" dirty="0"/>
              <a:t> World Cup</a:t>
            </a:r>
            <a:r>
              <a:rPr lang="da-DK" sz="1100" dirty="0"/>
              <a:t> og </a:t>
            </a:r>
            <a:r>
              <a:rPr lang="da-DK" sz="1100" b="1" dirty="0"/>
              <a:t>FIFA World Cup</a:t>
            </a:r>
            <a:r>
              <a:rPr lang="da-DK" sz="1100" dirty="0"/>
              <a:t> </a:t>
            </a:r>
          </a:p>
          <a:p>
            <a:pPr>
              <a:lnSpc>
                <a:spcPct val="110000"/>
              </a:lnSpc>
            </a:pPr>
            <a:r>
              <a:rPr lang="da-DK" sz="1100" dirty="0"/>
              <a:t>Vi udtog </a:t>
            </a:r>
            <a:r>
              <a:rPr lang="da-DK" sz="1100" b="1" dirty="0"/>
              <a:t>20 tilfældige kampe</a:t>
            </a:r>
            <a:r>
              <a:rPr lang="da-DK" sz="1100" dirty="0"/>
              <a:t> fra hver turnering </a:t>
            </a:r>
          </a:p>
          <a:p>
            <a:pPr>
              <a:lnSpc>
                <a:spcPct val="110000"/>
              </a:lnSpc>
            </a:pPr>
            <a:r>
              <a:rPr lang="da-DK" sz="1100" dirty="0"/>
              <a:t>Herefter hentede vi </a:t>
            </a:r>
            <a:r>
              <a:rPr lang="da-DK" sz="1100" b="1" dirty="0"/>
              <a:t>eventdata</a:t>
            </a:r>
            <a:r>
              <a:rPr lang="da-DK" sz="1100" dirty="0"/>
              <a:t> for hver kamp </a:t>
            </a:r>
          </a:p>
          <a:p>
            <a:pPr>
              <a:lnSpc>
                <a:spcPct val="110000"/>
              </a:lnSpc>
            </a:pPr>
            <a:r>
              <a:rPr lang="da-DK" sz="1100" dirty="0"/>
              <a:t>Analysen fokuserer kun på </a:t>
            </a:r>
            <a:r>
              <a:rPr lang="da-DK" sz="1100" b="1" dirty="0"/>
              <a:t>skud</a:t>
            </a:r>
            <a:r>
              <a:rPr lang="da-DK" sz="1100" dirty="0"/>
              <a:t> </a:t>
            </a:r>
          </a:p>
          <a:p>
            <a:pPr marL="0" indent="0">
              <a:lnSpc>
                <a:spcPct val="110000"/>
              </a:lnSpc>
              <a:buNone/>
            </a:pPr>
            <a:r>
              <a:rPr lang="da-DK" sz="1100" dirty="0"/>
              <a:t>Datasættet blev udvidet med egne variable: </a:t>
            </a:r>
          </a:p>
          <a:p>
            <a:pPr lvl="1">
              <a:lnSpc>
                <a:spcPct val="110000"/>
              </a:lnSpc>
            </a:pPr>
            <a:r>
              <a:rPr lang="da-DK" sz="1100" b="1" dirty="0"/>
              <a:t>x og y position</a:t>
            </a:r>
            <a:r>
              <a:rPr lang="da-DK" sz="1100" dirty="0"/>
              <a:t> </a:t>
            </a:r>
          </a:p>
          <a:p>
            <a:pPr lvl="1">
              <a:lnSpc>
                <a:spcPct val="110000"/>
              </a:lnSpc>
            </a:pPr>
            <a:r>
              <a:rPr lang="da-DK" sz="1100" b="1" dirty="0"/>
              <a:t>afstand til mål</a:t>
            </a:r>
            <a:r>
              <a:rPr lang="da-DK" sz="1100" dirty="0"/>
              <a:t> </a:t>
            </a:r>
          </a:p>
          <a:p>
            <a:pPr lvl="1">
              <a:lnSpc>
                <a:spcPct val="110000"/>
              </a:lnSpc>
            </a:pPr>
            <a:r>
              <a:rPr lang="da-DK" sz="1100" b="1" dirty="0" err="1"/>
              <a:t>xG</a:t>
            </a:r>
            <a:r>
              <a:rPr lang="da-DK" sz="1100" dirty="0"/>
              <a:t> </a:t>
            </a:r>
          </a:p>
          <a:p>
            <a:pPr lvl="1">
              <a:lnSpc>
                <a:spcPct val="110000"/>
              </a:lnSpc>
            </a:pPr>
            <a:r>
              <a:rPr lang="da-DK" sz="1100" b="1" dirty="0"/>
              <a:t>ego-skud indikator</a:t>
            </a:r>
            <a:r>
              <a:rPr lang="da-DK" sz="1100" dirty="0"/>
              <a:t> </a:t>
            </a:r>
          </a:p>
          <a:p>
            <a:pPr marL="0" indent="0">
              <a:lnSpc>
                <a:spcPct val="110000"/>
              </a:lnSpc>
              <a:buNone/>
            </a:pPr>
            <a:endParaRPr lang="da-DK" sz="1100" dirty="0"/>
          </a:p>
        </p:txBody>
      </p:sp>
      <p:pic>
        <p:nvPicPr>
          <p:cNvPr id="1028" name="Picture 4" descr="StatsBomb, the Most Advanced Analytics Provider in Football, Announces ...">
            <a:extLst>
              <a:ext uri="{FF2B5EF4-FFF2-40B4-BE49-F238E27FC236}">
                <a16:creationId xmlns:a16="http://schemas.microsoft.com/office/drawing/2014/main" id="{CCDCD3F6-F36D-0355-AFCF-419F54F5ECA2}"/>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691261" y="2961977"/>
            <a:ext cx="5837780" cy="9340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79177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D9E9073-07B5-74E4-3A3A-D5F07DCAEF1C}"/>
              </a:ext>
            </a:extLst>
          </p:cNvPr>
          <p:cNvSpPr>
            <a:spLocks noGrp="1"/>
          </p:cNvSpPr>
          <p:nvPr>
            <p:ph type="title"/>
          </p:nvPr>
        </p:nvSpPr>
        <p:spPr>
          <a:xfrm>
            <a:off x="166420" y="138989"/>
            <a:ext cx="10653578" cy="1132258"/>
          </a:xfrm>
        </p:spPr>
        <p:txBody>
          <a:bodyPr>
            <a:normAutofit fontScale="90000"/>
          </a:bodyPr>
          <a:lstStyle/>
          <a:p>
            <a:r>
              <a:rPr lang="da-DK" dirty="0"/>
              <a:t>Kvinder vælger bedre skudmuligheder</a:t>
            </a:r>
            <a:br>
              <a:rPr lang="da-DK" dirty="0"/>
            </a:br>
            <a:r>
              <a:rPr lang="da-DK" dirty="0">
                <a:solidFill>
                  <a:srgbClr val="FF0000"/>
                </a:solidFill>
              </a:rPr>
              <a:t>De afslutter i gennemsnit tættere på mål end mænd</a:t>
            </a:r>
          </a:p>
        </p:txBody>
      </p:sp>
      <p:pic>
        <p:nvPicPr>
          <p:cNvPr id="4" name="Pladsholder til indhold 3">
            <a:extLst>
              <a:ext uri="{FF2B5EF4-FFF2-40B4-BE49-F238E27FC236}">
                <a16:creationId xmlns:a16="http://schemas.microsoft.com/office/drawing/2014/main" id="{05958220-E5C5-5C48-DFA9-048C8924FC1C}"/>
              </a:ext>
            </a:extLst>
          </p:cNvPr>
          <p:cNvPicPr>
            <a:picLocks noGrp="1" noChangeAspect="1"/>
          </p:cNvPicPr>
          <p:nvPr>
            <p:ph idx="1"/>
          </p:nvPr>
        </p:nvPicPr>
        <p:blipFill>
          <a:blip r:embed="rId2"/>
          <a:stretch>
            <a:fillRect/>
          </a:stretch>
        </p:blipFill>
        <p:spPr>
          <a:xfrm>
            <a:off x="4222587" y="1271247"/>
            <a:ext cx="7825817" cy="5447764"/>
          </a:xfrm>
          <a:prstGeom prst="rect">
            <a:avLst/>
          </a:prstGeom>
        </p:spPr>
      </p:pic>
      <p:sp>
        <p:nvSpPr>
          <p:cNvPr id="6" name="Tekstfelt 5">
            <a:extLst>
              <a:ext uri="{FF2B5EF4-FFF2-40B4-BE49-F238E27FC236}">
                <a16:creationId xmlns:a16="http://schemas.microsoft.com/office/drawing/2014/main" id="{85952E6E-96E1-89F8-27B2-AC971DB5E785}"/>
              </a:ext>
            </a:extLst>
          </p:cNvPr>
          <p:cNvSpPr txBox="1"/>
          <p:nvPr/>
        </p:nvSpPr>
        <p:spPr>
          <a:xfrm>
            <a:off x="166420" y="1360627"/>
            <a:ext cx="3059583" cy="4524315"/>
          </a:xfrm>
          <a:prstGeom prst="rect">
            <a:avLst/>
          </a:prstGeom>
          <a:noFill/>
        </p:spPr>
        <p:txBody>
          <a:bodyPr wrap="square" rtlCol="0">
            <a:spAutoFit/>
          </a:bodyPr>
          <a:lstStyle/>
          <a:p>
            <a:pPr marL="285750" indent="-285750">
              <a:buFont typeface="Arial" panose="020B0604020202020204" pitchFamily="34" charset="0"/>
              <a:buChar char="•"/>
            </a:pPr>
            <a:r>
              <a:rPr lang="da-DK" dirty="0"/>
              <a:t>Kvinder skyder fra </a:t>
            </a:r>
            <a:r>
              <a:rPr lang="da-DK" b="1" dirty="0"/>
              <a:t>kortere afstand</a:t>
            </a:r>
            <a:r>
              <a:rPr lang="da-DK" dirty="0"/>
              <a:t> til målet</a:t>
            </a:r>
          </a:p>
          <a:p>
            <a:pPr marL="285750" indent="-285750">
              <a:buFont typeface="Arial" panose="020B0604020202020204" pitchFamily="34" charset="0"/>
              <a:buChar char="•"/>
            </a:pPr>
            <a:endParaRPr lang="da-DK" dirty="0"/>
          </a:p>
          <a:p>
            <a:pPr marL="285750" indent="-285750">
              <a:buFont typeface="Arial" panose="020B0604020202020204" pitchFamily="34" charset="0"/>
              <a:buChar char="•"/>
            </a:pPr>
            <a:r>
              <a:rPr lang="da-DK" dirty="0"/>
              <a:t>Det peger på mere </a:t>
            </a:r>
            <a:r>
              <a:rPr lang="da-DK" b="1" dirty="0"/>
              <a:t>tålmodig og selektiv </a:t>
            </a:r>
            <a:r>
              <a:rPr lang="da-DK" b="1" dirty="0" err="1"/>
              <a:t>afslutningstagning</a:t>
            </a:r>
            <a:endParaRPr lang="da-DK" b="1" dirty="0"/>
          </a:p>
          <a:p>
            <a:pPr marL="285750" indent="-285750">
              <a:buFont typeface="Arial" panose="020B0604020202020204" pitchFamily="34" charset="0"/>
              <a:buChar char="•"/>
            </a:pPr>
            <a:endParaRPr lang="da-DK" dirty="0"/>
          </a:p>
          <a:p>
            <a:pPr marL="285750" indent="-285750">
              <a:buFont typeface="Arial" panose="020B0604020202020204" pitchFamily="34" charset="0"/>
              <a:buChar char="•"/>
            </a:pPr>
            <a:r>
              <a:rPr lang="da-DK" dirty="0"/>
              <a:t>Mænd skyder </a:t>
            </a:r>
            <a:r>
              <a:rPr lang="da-DK" b="1" dirty="0"/>
              <a:t>oftere fra længere afstand</a:t>
            </a:r>
          </a:p>
          <a:p>
            <a:pPr marL="285750" indent="-285750">
              <a:buFont typeface="Arial" panose="020B0604020202020204" pitchFamily="34" charset="0"/>
              <a:buChar char="•"/>
            </a:pPr>
            <a:endParaRPr lang="da-DK" dirty="0"/>
          </a:p>
          <a:p>
            <a:pPr marL="285750" indent="-285750">
              <a:buFont typeface="Arial" panose="020B0604020202020204" pitchFamily="34" charset="0"/>
              <a:buChar char="•"/>
            </a:pPr>
            <a:r>
              <a:rPr lang="da-DK" dirty="0"/>
              <a:t>Det kan tyde på en mere </a:t>
            </a:r>
            <a:r>
              <a:rPr lang="da-DK" b="1" dirty="0"/>
              <a:t>risikovillig</a:t>
            </a:r>
            <a:r>
              <a:rPr lang="da-DK" dirty="0"/>
              <a:t> spillestil</a:t>
            </a:r>
          </a:p>
          <a:p>
            <a:endParaRPr lang="da-DK" dirty="0"/>
          </a:p>
          <a:p>
            <a:endParaRPr lang="da-DK" dirty="0"/>
          </a:p>
        </p:txBody>
      </p:sp>
      <p:sp>
        <p:nvSpPr>
          <p:cNvPr id="8" name="Tekstfelt 7">
            <a:extLst>
              <a:ext uri="{FF2B5EF4-FFF2-40B4-BE49-F238E27FC236}">
                <a16:creationId xmlns:a16="http://schemas.microsoft.com/office/drawing/2014/main" id="{16C7D5B1-FB17-534E-64C4-9BC330775F96}"/>
              </a:ext>
            </a:extLst>
          </p:cNvPr>
          <p:cNvSpPr txBox="1"/>
          <p:nvPr/>
        </p:nvSpPr>
        <p:spPr>
          <a:xfrm rot="16200000">
            <a:off x="4038348" y="3118523"/>
            <a:ext cx="649302" cy="276999"/>
          </a:xfrm>
          <a:prstGeom prst="rect">
            <a:avLst/>
          </a:prstGeom>
          <a:noFill/>
        </p:spPr>
        <p:txBody>
          <a:bodyPr wrap="square" rtlCol="0">
            <a:spAutoFit/>
          </a:bodyPr>
          <a:lstStyle/>
          <a:p>
            <a:r>
              <a:rPr lang="da-DK" sz="1200" dirty="0"/>
              <a:t>(M)</a:t>
            </a:r>
          </a:p>
        </p:txBody>
      </p:sp>
    </p:spTree>
    <p:extLst>
      <p:ext uri="{BB962C8B-B14F-4D97-AF65-F5344CB8AC3E}">
        <p14:creationId xmlns:p14="http://schemas.microsoft.com/office/powerpoint/2010/main" val="18782390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EDB6781-8790-05DA-B36C-5396E8DEB3F4}"/>
              </a:ext>
            </a:extLst>
          </p:cNvPr>
          <p:cNvSpPr>
            <a:spLocks noGrp="1"/>
          </p:cNvSpPr>
          <p:nvPr>
            <p:ph type="title"/>
          </p:nvPr>
        </p:nvSpPr>
        <p:spPr>
          <a:xfrm>
            <a:off x="-1" y="0"/>
            <a:ext cx="12004243" cy="1132258"/>
          </a:xfrm>
        </p:spPr>
        <p:txBody>
          <a:bodyPr>
            <a:normAutofit fontScale="90000"/>
          </a:bodyPr>
          <a:lstStyle/>
          <a:p>
            <a:r>
              <a:rPr lang="da-DK" dirty="0"/>
              <a:t>Mænd skyder oftere fra lavere kvalitet positioner</a:t>
            </a:r>
            <a:br>
              <a:rPr lang="da-DK" dirty="0"/>
            </a:br>
            <a:r>
              <a:rPr lang="da-DK" dirty="0">
                <a:solidFill>
                  <a:srgbClr val="FF0000"/>
                </a:solidFill>
              </a:rPr>
              <a:t>Når afstanden til mål stiger, falder </a:t>
            </a:r>
            <a:r>
              <a:rPr lang="da-DK" dirty="0" err="1">
                <a:solidFill>
                  <a:srgbClr val="FF0000"/>
                </a:solidFill>
              </a:rPr>
              <a:t>xG</a:t>
            </a:r>
            <a:r>
              <a:rPr lang="da-DK" dirty="0">
                <a:solidFill>
                  <a:srgbClr val="FF0000"/>
                </a:solidFill>
              </a:rPr>
              <a:t> tydeligt for begge køn, men mænd tager oftere skud langt fra mål</a:t>
            </a:r>
          </a:p>
        </p:txBody>
      </p:sp>
      <p:pic>
        <p:nvPicPr>
          <p:cNvPr id="4" name="Pladsholder til indhold 3">
            <a:extLst>
              <a:ext uri="{FF2B5EF4-FFF2-40B4-BE49-F238E27FC236}">
                <a16:creationId xmlns:a16="http://schemas.microsoft.com/office/drawing/2014/main" id="{DDD8B37B-97EF-BF66-4A8D-BFF3DC2E9158}"/>
              </a:ext>
            </a:extLst>
          </p:cNvPr>
          <p:cNvPicPr>
            <a:picLocks noGrp="1" noChangeAspect="1"/>
          </p:cNvPicPr>
          <p:nvPr>
            <p:ph idx="1"/>
          </p:nvPr>
        </p:nvPicPr>
        <p:blipFill>
          <a:blip r:embed="rId2"/>
          <a:stretch>
            <a:fillRect/>
          </a:stretch>
        </p:blipFill>
        <p:spPr>
          <a:xfrm>
            <a:off x="4815539" y="1536192"/>
            <a:ext cx="6993618" cy="4852999"/>
          </a:xfrm>
          <a:prstGeom prst="rect">
            <a:avLst/>
          </a:prstGeom>
        </p:spPr>
      </p:pic>
      <p:sp>
        <p:nvSpPr>
          <p:cNvPr id="3" name="Tekstfelt 2">
            <a:extLst>
              <a:ext uri="{FF2B5EF4-FFF2-40B4-BE49-F238E27FC236}">
                <a16:creationId xmlns:a16="http://schemas.microsoft.com/office/drawing/2014/main" id="{8584A9A6-32D6-2A92-2544-FC080F9B26B3}"/>
              </a:ext>
            </a:extLst>
          </p:cNvPr>
          <p:cNvSpPr txBox="1"/>
          <p:nvPr/>
        </p:nvSpPr>
        <p:spPr>
          <a:xfrm>
            <a:off x="102413" y="1609345"/>
            <a:ext cx="4586631" cy="3416320"/>
          </a:xfrm>
          <a:prstGeom prst="rect">
            <a:avLst/>
          </a:prstGeom>
          <a:noFill/>
        </p:spPr>
        <p:txBody>
          <a:bodyPr wrap="square" rtlCol="0">
            <a:spAutoFit/>
          </a:bodyPr>
          <a:lstStyle/>
          <a:p>
            <a:pPr marL="285750" indent="-285750">
              <a:buFont typeface="Arial" panose="020B0604020202020204" pitchFamily="34" charset="0"/>
              <a:buChar char="•"/>
            </a:pPr>
            <a:r>
              <a:rPr lang="da-DK" b="1" dirty="0" err="1"/>
              <a:t>xG</a:t>
            </a:r>
            <a:r>
              <a:rPr lang="da-DK" b="1" dirty="0"/>
              <a:t> </a:t>
            </a:r>
            <a:r>
              <a:rPr lang="da-DK" dirty="0"/>
              <a:t>falder, jo længere spilleren er fra mål</a:t>
            </a:r>
          </a:p>
          <a:p>
            <a:pPr marL="285750" indent="-285750">
              <a:buFont typeface="Arial" panose="020B0604020202020204" pitchFamily="34" charset="0"/>
              <a:buChar char="•"/>
            </a:pPr>
            <a:endParaRPr lang="da-DK" dirty="0"/>
          </a:p>
          <a:p>
            <a:pPr marL="285750" indent="-285750">
              <a:buFont typeface="Arial" panose="020B0604020202020204" pitchFamily="34" charset="0"/>
              <a:buChar char="•"/>
            </a:pPr>
            <a:r>
              <a:rPr lang="da-DK" dirty="0"/>
              <a:t>Mænd tager oftere afslutninger fra positioner </a:t>
            </a:r>
            <a:r>
              <a:rPr lang="da-DK" b="1" dirty="0"/>
              <a:t>med lav scoringssandsynlighed</a:t>
            </a:r>
          </a:p>
          <a:p>
            <a:pPr marL="285750" indent="-285750">
              <a:buFont typeface="Arial" panose="020B0604020202020204" pitchFamily="34" charset="0"/>
              <a:buChar char="•"/>
            </a:pPr>
            <a:endParaRPr lang="da-DK" dirty="0"/>
          </a:p>
          <a:p>
            <a:pPr marL="285750" indent="-285750">
              <a:buFont typeface="Arial" panose="020B0604020202020204" pitchFamily="34" charset="0"/>
              <a:buChar char="•"/>
            </a:pPr>
            <a:r>
              <a:rPr lang="da-DK" dirty="0"/>
              <a:t>Kvinder afslutter </a:t>
            </a:r>
            <a:r>
              <a:rPr lang="da-DK" b="1" dirty="0"/>
              <a:t>oftere fra mere fordelagtige positioner</a:t>
            </a:r>
          </a:p>
          <a:p>
            <a:pPr marL="285750" indent="-285750">
              <a:buFont typeface="Arial" panose="020B0604020202020204" pitchFamily="34" charset="0"/>
              <a:buChar char="•"/>
            </a:pPr>
            <a:endParaRPr lang="da-DK" dirty="0"/>
          </a:p>
          <a:p>
            <a:pPr marL="285750" indent="-285750">
              <a:buFont typeface="Arial" panose="020B0604020202020204" pitchFamily="34" charset="0"/>
              <a:buChar char="•"/>
            </a:pPr>
            <a:r>
              <a:rPr lang="da-DK" dirty="0"/>
              <a:t>Figuren peger på forskelle</a:t>
            </a:r>
            <a:r>
              <a:rPr lang="da-DK" b="1" dirty="0"/>
              <a:t> i skudvalg og risikovillighed</a:t>
            </a:r>
          </a:p>
        </p:txBody>
      </p:sp>
    </p:spTree>
    <p:extLst>
      <p:ext uri="{BB962C8B-B14F-4D97-AF65-F5344CB8AC3E}">
        <p14:creationId xmlns:p14="http://schemas.microsoft.com/office/powerpoint/2010/main" val="32285280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246F40E-8CB0-F4C6-10FE-583AA539021B}"/>
              </a:ext>
            </a:extLst>
          </p:cNvPr>
          <p:cNvSpPr>
            <a:spLocks noGrp="1"/>
          </p:cNvSpPr>
          <p:nvPr>
            <p:ph type="title"/>
          </p:nvPr>
        </p:nvSpPr>
        <p:spPr>
          <a:xfrm>
            <a:off x="0" y="0"/>
            <a:ext cx="12192000" cy="1132258"/>
          </a:xfrm>
        </p:spPr>
        <p:txBody>
          <a:bodyPr>
            <a:normAutofit fontScale="90000"/>
          </a:bodyPr>
          <a:lstStyle/>
          <a:p>
            <a:r>
              <a:rPr lang="da-DK" dirty="0"/>
              <a:t>Kvinder skaber flere afslutninger pr. kamp</a:t>
            </a:r>
            <a:br>
              <a:rPr lang="da-DK" dirty="0"/>
            </a:br>
            <a:r>
              <a:rPr lang="da-DK" dirty="0">
                <a:solidFill>
                  <a:srgbClr val="FF0000"/>
                </a:solidFill>
              </a:rPr>
              <a:t>Flere skud tyder på et mere kollektivt og struktureret angrebsspil</a:t>
            </a:r>
          </a:p>
        </p:txBody>
      </p:sp>
      <p:sp>
        <p:nvSpPr>
          <p:cNvPr id="3" name="Tekstfelt 2">
            <a:extLst>
              <a:ext uri="{FF2B5EF4-FFF2-40B4-BE49-F238E27FC236}">
                <a16:creationId xmlns:a16="http://schemas.microsoft.com/office/drawing/2014/main" id="{1568310E-022A-EC57-4176-4E53638ED1A0}"/>
              </a:ext>
            </a:extLst>
          </p:cNvPr>
          <p:cNvSpPr txBox="1"/>
          <p:nvPr/>
        </p:nvSpPr>
        <p:spPr>
          <a:xfrm>
            <a:off x="73152" y="1565453"/>
            <a:ext cx="4718304" cy="3693319"/>
          </a:xfrm>
          <a:prstGeom prst="rect">
            <a:avLst/>
          </a:prstGeom>
          <a:noFill/>
        </p:spPr>
        <p:txBody>
          <a:bodyPr wrap="square" rtlCol="0">
            <a:spAutoFit/>
          </a:bodyPr>
          <a:lstStyle/>
          <a:p>
            <a:pPr marL="285750" indent="-285750">
              <a:buFont typeface="Arial" panose="020B0604020202020204" pitchFamily="34" charset="0"/>
              <a:buChar char="•"/>
            </a:pPr>
            <a:r>
              <a:rPr lang="da-DK" dirty="0"/>
              <a:t>Kvinder har i gennemsnit </a:t>
            </a:r>
            <a:r>
              <a:rPr lang="da-DK" b="1" dirty="0"/>
              <a:t>flere skud pr. kamp</a:t>
            </a:r>
          </a:p>
          <a:p>
            <a:pPr marL="285750" indent="-285750">
              <a:buFont typeface="Arial" panose="020B0604020202020204" pitchFamily="34" charset="0"/>
              <a:buChar char="•"/>
            </a:pPr>
            <a:endParaRPr lang="da-DK" dirty="0"/>
          </a:p>
          <a:p>
            <a:pPr marL="285750" indent="-285750">
              <a:buFont typeface="Arial" panose="020B0604020202020204" pitchFamily="34" charset="0"/>
              <a:buChar char="•"/>
            </a:pPr>
            <a:r>
              <a:rPr lang="da-DK" dirty="0"/>
              <a:t>Indikerer flere </a:t>
            </a:r>
            <a:r>
              <a:rPr lang="da-DK" b="1" dirty="0"/>
              <a:t>opbyggede angreb og afsluttede sekvenser</a:t>
            </a:r>
          </a:p>
          <a:p>
            <a:pPr marL="285750" indent="-285750">
              <a:buFont typeface="Arial" panose="020B0604020202020204" pitchFamily="34" charset="0"/>
              <a:buChar char="•"/>
            </a:pPr>
            <a:endParaRPr lang="da-DK" dirty="0"/>
          </a:p>
          <a:p>
            <a:pPr marL="285750" indent="-285750">
              <a:buFont typeface="Arial" panose="020B0604020202020204" pitchFamily="34" charset="0"/>
              <a:buChar char="•"/>
            </a:pPr>
            <a:r>
              <a:rPr lang="da-DK" dirty="0"/>
              <a:t>Tyder på mere kollektiv chanceproduktion</a:t>
            </a:r>
          </a:p>
          <a:p>
            <a:pPr marL="285750" indent="-285750">
              <a:buFont typeface="Arial" panose="020B0604020202020204" pitchFamily="34" charset="0"/>
              <a:buChar char="•"/>
            </a:pPr>
            <a:endParaRPr lang="da-DK" b="1" dirty="0"/>
          </a:p>
          <a:p>
            <a:pPr marL="285750" indent="-285750">
              <a:buFont typeface="Arial" panose="020B0604020202020204" pitchFamily="34" charset="0"/>
              <a:buChar char="•"/>
            </a:pPr>
            <a:r>
              <a:rPr lang="da-DK" b="1" dirty="0"/>
              <a:t>Kombineret med bedre positioner → stærk beslutningskvalitet</a:t>
            </a:r>
          </a:p>
          <a:p>
            <a:endParaRPr lang="da-DK" dirty="0"/>
          </a:p>
          <a:p>
            <a:endParaRPr lang="da-DK" dirty="0"/>
          </a:p>
        </p:txBody>
      </p:sp>
      <p:pic>
        <p:nvPicPr>
          <p:cNvPr id="8" name="Billede 7">
            <a:extLst>
              <a:ext uri="{FF2B5EF4-FFF2-40B4-BE49-F238E27FC236}">
                <a16:creationId xmlns:a16="http://schemas.microsoft.com/office/drawing/2014/main" id="{AC80BFDD-D472-F89E-CFD4-248B50394D11}"/>
              </a:ext>
            </a:extLst>
          </p:cNvPr>
          <p:cNvPicPr>
            <a:picLocks noChangeAspect="1"/>
          </p:cNvPicPr>
          <p:nvPr/>
        </p:nvPicPr>
        <p:blipFill>
          <a:blip r:embed="rId2"/>
          <a:stretch>
            <a:fillRect/>
          </a:stretch>
        </p:blipFill>
        <p:spPr>
          <a:xfrm>
            <a:off x="5388529" y="1565453"/>
            <a:ext cx="6315321" cy="4505580"/>
          </a:xfrm>
          <a:prstGeom prst="rect">
            <a:avLst/>
          </a:prstGeom>
        </p:spPr>
      </p:pic>
    </p:spTree>
    <p:extLst>
      <p:ext uri="{BB962C8B-B14F-4D97-AF65-F5344CB8AC3E}">
        <p14:creationId xmlns:p14="http://schemas.microsoft.com/office/powerpoint/2010/main" val="41268562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EEF93AD-8C32-9FC8-962A-F91D19D9497F}"/>
              </a:ext>
            </a:extLst>
          </p:cNvPr>
          <p:cNvSpPr>
            <a:spLocks noGrp="1"/>
          </p:cNvSpPr>
          <p:nvPr>
            <p:ph type="title"/>
          </p:nvPr>
        </p:nvSpPr>
        <p:spPr>
          <a:xfrm>
            <a:off x="78638" y="65837"/>
            <a:ext cx="10653578" cy="1132258"/>
          </a:xfrm>
        </p:spPr>
        <p:txBody>
          <a:bodyPr>
            <a:normAutofit fontScale="90000"/>
          </a:bodyPr>
          <a:lstStyle/>
          <a:p>
            <a:r>
              <a:rPr lang="da-DK" dirty="0"/>
              <a:t>Mænd tager flere ego-skud</a:t>
            </a:r>
            <a:br>
              <a:rPr lang="da-DK" dirty="0"/>
            </a:br>
            <a:r>
              <a:rPr lang="da-DK" dirty="0">
                <a:solidFill>
                  <a:srgbClr val="FF0000"/>
                </a:solidFill>
              </a:rPr>
              <a:t>Tendens til, at mænd oftere ignorerer bedre placerede medspillere</a:t>
            </a:r>
          </a:p>
        </p:txBody>
      </p:sp>
      <p:pic>
        <p:nvPicPr>
          <p:cNvPr id="4" name="Pladsholder til indhold 3">
            <a:extLst>
              <a:ext uri="{FF2B5EF4-FFF2-40B4-BE49-F238E27FC236}">
                <a16:creationId xmlns:a16="http://schemas.microsoft.com/office/drawing/2014/main" id="{AAA15B18-CA65-53C1-7255-C3D2D123A1CD}"/>
              </a:ext>
            </a:extLst>
          </p:cNvPr>
          <p:cNvPicPr>
            <a:picLocks noGrp="1" noChangeAspect="1"/>
          </p:cNvPicPr>
          <p:nvPr>
            <p:ph idx="1"/>
          </p:nvPr>
        </p:nvPicPr>
        <p:blipFill>
          <a:blip r:embed="rId2"/>
          <a:stretch>
            <a:fillRect/>
          </a:stretch>
        </p:blipFill>
        <p:spPr>
          <a:xfrm>
            <a:off x="5077021" y="1536193"/>
            <a:ext cx="7114979" cy="4874946"/>
          </a:xfrm>
          <a:prstGeom prst="rect">
            <a:avLst/>
          </a:prstGeom>
        </p:spPr>
      </p:pic>
      <p:sp>
        <p:nvSpPr>
          <p:cNvPr id="6" name="Rektangel 5">
            <a:extLst>
              <a:ext uri="{FF2B5EF4-FFF2-40B4-BE49-F238E27FC236}">
                <a16:creationId xmlns:a16="http://schemas.microsoft.com/office/drawing/2014/main" id="{6FA7874B-6212-CAAB-3044-FB607B7E4827}"/>
              </a:ext>
            </a:extLst>
          </p:cNvPr>
          <p:cNvSpPr/>
          <p:nvPr/>
        </p:nvSpPr>
        <p:spPr>
          <a:xfrm>
            <a:off x="78638" y="4601261"/>
            <a:ext cx="4575658" cy="2062886"/>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a-DK" sz="1600" b="1" dirty="0">
                <a:solidFill>
                  <a:schemeClr val="tx1"/>
                </a:solidFill>
              </a:rPr>
              <a:t># Hvis en medspiller er markant bedre placeret</a:t>
            </a:r>
            <a:br>
              <a:rPr lang="da-DK" sz="1600" dirty="0"/>
            </a:br>
            <a:r>
              <a:rPr lang="da-DK" sz="1600" dirty="0" err="1">
                <a:solidFill>
                  <a:schemeClr val="tx1"/>
                </a:solidFill>
              </a:rPr>
              <a:t>best_diff</a:t>
            </a:r>
            <a:r>
              <a:rPr lang="da-DK" sz="1600" dirty="0">
                <a:solidFill>
                  <a:schemeClr val="tx1"/>
                </a:solidFill>
              </a:rPr>
              <a:t> = </a:t>
            </a:r>
            <a:r>
              <a:rPr lang="da-DK" sz="1600" dirty="0" err="1">
                <a:solidFill>
                  <a:schemeClr val="tx1"/>
                </a:solidFill>
              </a:rPr>
              <a:t>shooter_score</a:t>
            </a:r>
            <a:r>
              <a:rPr lang="da-DK" sz="1600" dirty="0">
                <a:solidFill>
                  <a:schemeClr val="tx1"/>
                </a:solidFill>
              </a:rPr>
              <a:t> - </a:t>
            </a:r>
            <a:r>
              <a:rPr lang="da-DK" sz="1600" dirty="0" err="1">
                <a:solidFill>
                  <a:schemeClr val="tx1"/>
                </a:solidFill>
              </a:rPr>
              <a:t>tm_score</a:t>
            </a:r>
            <a:br>
              <a:rPr lang="da-DK" sz="1600" dirty="0">
                <a:solidFill>
                  <a:schemeClr val="tx1"/>
                </a:solidFill>
              </a:rPr>
            </a:br>
            <a:br>
              <a:rPr lang="da-DK" sz="1600" dirty="0">
                <a:solidFill>
                  <a:schemeClr val="tx1"/>
                </a:solidFill>
              </a:rPr>
            </a:br>
            <a:r>
              <a:rPr lang="da-DK" sz="1600" b="1" dirty="0">
                <a:solidFill>
                  <a:schemeClr val="tx1"/>
                </a:solidFill>
              </a:rPr>
              <a:t># Klassificér ego-skud</a:t>
            </a:r>
            <a:br>
              <a:rPr lang="da-DK" sz="1600" dirty="0">
                <a:solidFill>
                  <a:schemeClr val="tx1"/>
                </a:solidFill>
              </a:rPr>
            </a:br>
            <a:r>
              <a:rPr lang="da-DK" sz="1600" dirty="0">
                <a:solidFill>
                  <a:schemeClr val="tx1"/>
                </a:solidFill>
              </a:rPr>
              <a:t>ego = </a:t>
            </a:r>
            <a:r>
              <a:rPr lang="da-DK" sz="1600" dirty="0" err="1">
                <a:solidFill>
                  <a:schemeClr val="tx1"/>
                </a:solidFill>
              </a:rPr>
              <a:t>ifelse</a:t>
            </a:r>
            <a:r>
              <a:rPr lang="da-DK" sz="1600" dirty="0">
                <a:solidFill>
                  <a:schemeClr val="tx1"/>
                </a:solidFill>
              </a:rPr>
              <a:t>(</a:t>
            </a:r>
            <a:r>
              <a:rPr lang="da-DK" sz="1600" dirty="0" err="1">
                <a:solidFill>
                  <a:schemeClr val="tx1"/>
                </a:solidFill>
              </a:rPr>
              <a:t>best_diff</a:t>
            </a:r>
            <a:r>
              <a:rPr lang="da-DK" sz="1600" dirty="0">
                <a:solidFill>
                  <a:schemeClr val="tx1"/>
                </a:solidFill>
              </a:rPr>
              <a:t> &gt; 3, TRUE, FALSE)</a:t>
            </a:r>
          </a:p>
          <a:p>
            <a:pPr algn="ctr"/>
            <a:endParaRPr lang="da-DK" dirty="0"/>
          </a:p>
        </p:txBody>
      </p:sp>
      <p:sp>
        <p:nvSpPr>
          <p:cNvPr id="7" name="Tekstfelt 6">
            <a:extLst>
              <a:ext uri="{FF2B5EF4-FFF2-40B4-BE49-F238E27FC236}">
                <a16:creationId xmlns:a16="http://schemas.microsoft.com/office/drawing/2014/main" id="{E50AAD03-2F81-83CF-6E61-AB5D363B5F14}"/>
              </a:ext>
            </a:extLst>
          </p:cNvPr>
          <p:cNvSpPr txBox="1"/>
          <p:nvPr/>
        </p:nvSpPr>
        <p:spPr>
          <a:xfrm>
            <a:off x="182879" y="1711757"/>
            <a:ext cx="4996283" cy="2862322"/>
          </a:xfrm>
          <a:prstGeom prst="rect">
            <a:avLst/>
          </a:prstGeom>
          <a:noFill/>
        </p:spPr>
        <p:txBody>
          <a:bodyPr wrap="square" rtlCol="0">
            <a:spAutoFit/>
          </a:bodyPr>
          <a:lstStyle/>
          <a:p>
            <a:pPr marL="285750" indent="-285750">
              <a:buFont typeface="Arial" panose="020B0604020202020204" pitchFamily="34" charset="0"/>
              <a:buChar char="•"/>
            </a:pPr>
            <a:r>
              <a:rPr lang="da-DK" b="1" dirty="0"/>
              <a:t>Ego-skud: </a:t>
            </a:r>
            <a:r>
              <a:rPr lang="da-DK" dirty="0"/>
              <a:t>afslutning trods bedre placeret medspiller</a:t>
            </a:r>
          </a:p>
          <a:p>
            <a:pPr marL="285750" indent="-285750">
              <a:buFont typeface="Arial" panose="020B0604020202020204" pitchFamily="34" charset="0"/>
              <a:buChar char="•"/>
            </a:pPr>
            <a:endParaRPr lang="da-DK" dirty="0"/>
          </a:p>
          <a:p>
            <a:pPr marL="285750" indent="-285750">
              <a:buFont typeface="Arial" panose="020B0604020202020204" pitchFamily="34" charset="0"/>
              <a:buChar char="•"/>
            </a:pPr>
            <a:r>
              <a:rPr lang="da-DK" dirty="0"/>
              <a:t>Mænd har en </a:t>
            </a:r>
            <a:r>
              <a:rPr lang="da-DK" b="1" dirty="0"/>
              <a:t>lidt højere andel end kvinder</a:t>
            </a:r>
          </a:p>
          <a:p>
            <a:pPr marL="285750" indent="-285750">
              <a:buFont typeface="Arial" panose="020B0604020202020204" pitchFamily="34" charset="0"/>
              <a:buChar char="•"/>
            </a:pPr>
            <a:endParaRPr lang="da-DK" dirty="0"/>
          </a:p>
          <a:p>
            <a:pPr marL="285750" indent="-285750">
              <a:buFont typeface="Arial" panose="020B0604020202020204" pitchFamily="34" charset="0"/>
              <a:buChar char="•"/>
            </a:pPr>
            <a:r>
              <a:rPr lang="da-DK" dirty="0"/>
              <a:t>Forskellen er </a:t>
            </a:r>
            <a:r>
              <a:rPr lang="da-DK" b="1" dirty="0"/>
              <a:t>lille</a:t>
            </a:r>
            <a:r>
              <a:rPr lang="da-DK" dirty="0"/>
              <a:t>, men peger på en tendens</a:t>
            </a:r>
          </a:p>
          <a:p>
            <a:pPr marL="285750" indent="-285750">
              <a:buFont typeface="Arial" panose="020B0604020202020204" pitchFamily="34" charset="0"/>
              <a:buChar char="•"/>
            </a:pPr>
            <a:endParaRPr lang="da-DK" dirty="0"/>
          </a:p>
          <a:p>
            <a:pPr marL="285750" indent="-285750">
              <a:buFont typeface="Arial" panose="020B0604020202020204" pitchFamily="34" charset="0"/>
              <a:buChar char="•"/>
            </a:pPr>
            <a:r>
              <a:rPr lang="da-DK" dirty="0"/>
              <a:t>Score baseret </a:t>
            </a:r>
            <a:r>
              <a:rPr lang="da-DK" b="1" dirty="0"/>
              <a:t>på afstand, vinkel og pres</a:t>
            </a:r>
          </a:p>
        </p:txBody>
      </p:sp>
    </p:spTree>
    <p:extLst>
      <p:ext uri="{BB962C8B-B14F-4D97-AF65-F5344CB8AC3E}">
        <p14:creationId xmlns:p14="http://schemas.microsoft.com/office/powerpoint/2010/main" val="16205808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FBB89BE-CA20-A66A-13D6-6B26523E8AF2}"/>
              </a:ext>
            </a:extLst>
          </p:cNvPr>
          <p:cNvSpPr>
            <a:spLocks noGrp="1"/>
          </p:cNvSpPr>
          <p:nvPr>
            <p:ph type="title"/>
          </p:nvPr>
        </p:nvSpPr>
        <p:spPr>
          <a:xfrm>
            <a:off x="124357" y="43891"/>
            <a:ext cx="10653578" cy="1132258"/>
          </a:xfrm>
        </p:spPr>
        <p:txBody>
          <a:bodyPr/>
          <a:lstStyle/>
          <a:p>
            <a:r>
              <a:rPr lang="da-DK" dirty="0"/>
              <a:t>Case 1</a:t>
            </a:r>
            <a:br>
              <a:rPr lang="da-DK" dirty="0"/>
            </a:br>
            <a:r>
              <a:rPr lang="da-DK" dirty="0">
                <a:solidFill>
                  <a:srgbClr val="FF0000"/>
                </a:solidFill>
              </a:rPr>
              <a:t>Ikke alle skud er lige gode</a:t>
            </a:r>
          </a:p>
        </p:txBody>
      </p:sp>
      <p:pic>
        <p:nvPicPr>
          <p:cNvPr id="4" name="Pladsholder til indhold 3" descr="Et billede, der indeholder skærmbillede, diagram, grøn, tekst&#10;&#10;AI-genereret indhold kan være ukorrekt.">
            <a:extLst>
              <a:ext uri="{FF2B5EF4-FFF2-40B4-BE49-F238E27FC236}">
                <a16:creationId xmlns:a16="http://schemas.microsoft.com/office/drawing/2014/main" id="{9AAB915D-65E5-32AD-FA82-887E58E1E19E}"/>
              </a:ext>
            </a:extLst>
          </p:cNvPr>
          <p:cNvPicPr>
            <a:picLocks noGrp="1" noChangeAspect="1"/>
          </p:cNvPicPr>
          <p:nvPr>
            <p:ph idx="1"/>
          </p:nvPr>
        </p:nvPicPr>
        <p:blipFill>
          <a:blip r:embed="rId2"/>
          <a:stretch>
            <a:fillRect/>
          </a:stretch>
        </p:blipFill>
        <p:spPr>
          <a:xfrm>
            <a:off x="4067252" y="1519963"/>
            <a:ext cx="7921114" cy="4800369"/>
          </a:xfrm>
          <a:prstGeom prst="rect">
            <a:avLst/>
          </a:prstGeom>
        </p:spPr>
      </p:pic>
      <p:sp>
        <p:nvSpPr>
          <p:cNvPr id="6" name="Tekstfelt 5">
            <a:extLst>
              <a:ext uri="{FF2B5EF4-FFF2-40B4-BE49-F238E27FC236}">
                <a16:creationId xmlns:a16="http://schemas.microsoft.com/office/drawing/2014/main" id="{EC20EE4F-BBD2-C460-7C6A-E9A1B8B25C4E}"/>
              </a:ext>
            </a:extLst>
          </p:cNvPr>
          <p:cNvSpPr txBox="1"/>
          <p:nvPr/>
        </p:nvSpPr>
        <p:spPr>
          <a:xfrm>
            <a:off x="124357" y="1519963"/>
            <a:ext cx="3942895" cy="3139321"/>
          </a:xfrm>
          <a:prstGeom prst="rect">
            <a:avLst/>
          </a:prstGeom>
          <a:noFill/>
        </p:spPr>
        <p:txBody>
          <a:bodyPr wrap="square" rtlCol="0">
            <a:spAutoFit/>
          </a:bodyPr>
          <a:lstStyle/>
          <a:p>
            <a:pPr marL="285750" indent="-285750">
              <a:buFont typeface="Arial" panose="020B0604020202020204" pitchFamily="34" charset="0"/>
              <a:buChar char="•"/>
            </a:pPr>
            <a:r>
              <a:rPr lang="da-DK" b="1" dirty="0"/>
              <a:t>Trekanten viser skudlinjen mod mål</a:t>
            </a:r>
          </a:p>
          <a:p>
            <a:pPr marL="285750" indent="-285750">
              <a:buFont typeface="Arial" panose="020B0604020202020204" pitchFamily="34" charset="0"/>
              <a:buChar char="•"/>
            </a:pPr>
            <a:endParaRPr lang="da-DK" dirty="0"/>
          </a:p>
          <a:p>
            <a:pPr marL="285750" indent="-285750">
              <a:buFont typeface="Arial" panose="020B0604020202020204" pitchFamily="34" charset="0"/>
              <a:buChar char="•"/>
            </a:pPr>
            <a:r>
              <a:rPr lang="da-DK" dirty="0"/>
              <a:t>Modstandere i </a:t>
            </a:r>
            <a:r>
              <a:rPr lang="da-DK" b="1" dirty="0"/>
              <a:t>trekanten = pres på skuddet</a:t>
            </a:r>
          </a:p>
          <a:p>
            <a:pPr marL="285750" indent="-285750">
              <a:buFont typeface="Arial" panose="020B0604020202020204" pitchFamily="34" charset="0"/>
              <a:buChar char="•"/>
            </a:pPr>
            <a:endParaRPr lang="da-DK" dirty="0"/>
          </a:p>
          <a:p>
            <a:pPr marL="285750" indent="-285750">
              <a:buFont typeface="Arial" panose="020B0604020202020204" pitchFamily="34" charset="0"/>
              <a:buChar char="•"/>
            </a:pPr>
            <a:r>
              <a:rPr lang="da-DK" dirty="0"/>
              <a:t>Medspillere </a:t>
            </a:r>
            <a:r>
              <a:rPr lang="da-DK" b="1" dirty="0"/>
              <a:t>uden for pres kan være bedre valg</a:t>
            </a:r>
          </a:p>
          <a:p>
            <a:pPr marL="285750" indent="-285750">
              <a:buFont typeface="Arial" panose="020B0604020202020204" pitchFamily="34" charset="0"/>
              <a:buChar char="•"/>
            </a:pPr>
            <a:endParaRPr lang="da-DK" dirty="0"/>
          </a:p>
          <a:p>
            <a:pPr marL="285750" indent="-285750">
              <a:buFont typeface="Arial" panose="020B0604020202020204" pitchFamily="34" charset="0"/>
              <a:buChar char="•"/>
            </a:pPr>
            <a:r>
              <a:rPr lang="da-DK" dirty="0"/>
              <a:t>Modellen vurderer: </a:t>
            </a:r>
            <a:r>
              <a:rPr lang="da-DK" b="1" dirty="0"/>
              <a:t>skud eller aflevering?</a:t>
            </a:r>
          </a:p>
        </p:txBody>
      </p:sp>
    </p:spTree>
    <p:extLst>
      <p:ext uri="{BB962C8B-B14F-4D97-AF65-F5344CB8AC3E}">
        <p14:creationId xmlns:p14="http://schemas.microsoft.com/office/powerpoint/2010/main" val="26469871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7EFC5D5-F651-0FAA-51F4-12656FD34326}"/>
              </a:ext>
            </a:extLst>
          </p:cNvPr>
          <p:cNvSpPr>
            <a:spLocks noGrp="1"/>
          </p:cNvSpPr>
          <p:nvPr>
            <p:ph type="title"/>
          </p:nvPr>
        </p:nvSpPr>
        <p:spPr>
          <a:xfrm>
            <a:off x="71323" y="73152"/>
            <a:ext cx="10653578" cy="1132258"/>
          </a:xfrm>
        </p:spPr>
        <p:txBody>
          <a:bodyPr/>
          <a:lstStyle/>
          <a:p>
            <a:r>
              <a:rPr lang="da-DK" dirty="0"/>
              <a:t>Case 2</a:t>
            </a:r>
            <a:br>
              <a:rPr lang="da-DK" dirty="0"/>
            </a:br>
            <a:r>
              <a:rPr lang="da-DK" dirty="0">
                <a:solidFill>
                  <a:srgbClr val="FF0000"/>
                </a:solidFill>
              </a:rPr>
              <a:t>God beslutning</a:t>
            </a:r>
          </a:p>
        </p:txBody>
      </p:sp>
      <p:pic>
        <p:nvPicPr>
          <p:cNvPr id="4" name="Pladsholder til indhold 3" descr="Et billede, der indeholder skærmbillede, grøn, tekst, diagram&#10;&#10;AI-genereret indhold kan være ukorrekt.">
            <a:extLst>
              <a:ext uri="{FF2B5EF4-FFF2-40B4-BE49-F238E27FC236}">
                <a16:creationId xmlns:a16="http://schemas.microsoft.com/office/drawing/2014/main" id="{DC939DA3-38B5-86E0-DFA8-20E6FAE5E131}"/>
              </a:ext>
            </a:extLst>
          </p:cNvPr>
          <p:cNvPicPr>
            <a:picLocks noGrp="1" noChangeAspect="1"/>
          </p:cNvPicPr>
          <p:nvPr>
            <p:ph idx="1"/>
          </p:nvPr>
        </p:nvPicPr>
        <p:blipFill>
          <a:blip r:embed="rId2"/>
          <a:stretch>
            <a:fillRect/>
          </a:stretch>
        </p:blipFill>
        <p:spPr>
          <a:xfrm>
            <a:off x="3827725" y="1660550"/>
            <a:ext cx="8294927" cy="4479926"/>
          </a:xfrm>
          <a:prstGeom prst="rect">
            <a:avLst/>
          </a:prstGeom>
        </p:spPr>
      </p:pic>
      <p:sp>
        <p:nvSpPr>
          <p:cNvPr id="3" name="Tekstfelt 2">
            <a:extLst>
              <a:ext uri="{FF2B5EF4-FFF2-40B4-BE49-F238E27FC236}">
                <a16:creationId xmlns:a16="http://schemas.microsoft.com/office/drawing/2014/main" id="{C359D4D7-3BBE-CE3D-5711-172D664C54ED}"/>
              </a:ext>
            </a:extLst>
          </p:cNvPr>
          <p:cNvSpPr txBox="1"/>
          <p:nvPr/>
        </p:nvSpPr>
        <p:spPr>
          <a:xfrm>
            <a:off x="207592" y="1931213"/>
            <a:ext cx="3483864" cy="2585323"/>
          </a:xfrm>
          <a:prstGeom prst="rect">
            <a:avLst/>
          </a:prstGeom>
          <a:noFill/>
        </p:spPr>
        <p:txBody>
          <a:bodyPr wrap="square" rtlCol="0">
            <a:spAutoFit/>
          </a:bodyPr>
          <a:lstStyle/>
          <a:p>
            <a:pPr marL="285750" indent="-285750">
              <a:buFont typeface="Arial" panose="020B0604020202020204" pitchFamily="34" charset="0"/>
              <a:buChar char="•"/>
            </a:pPr>
            <a:r>
              <a:rPr lang="da-DK" dirty="0"/>
              <a:t>Få modstandere i skudlinjen </a:t>
            </a:r>
            <a:r>
              <a:rPr lang="da-DK" b="1" dirty="0"/>
              <a:t>(lavt pres)</a:t>
            </a:r>
          </a:p>
          <a:p>
            <a:pPr marL="285750" indent="-285750">
              <a:buFont typeface="Arial" panose="020B0604020202020204" pitchFamily="34" charset="0"/>
              <a:buChar char="•"/>
            </a:pPr>
            <a:endParaRPr lang="da-DK" dirty="0"/>
          </a:p>
          <a:p>
            <a:pPr marL="285750" indent="-285750">
              <a:buFont typeface="Arial" panose="020B0604020202020204" pitchFamily="34" charset="0"/>
              <a:buChar char="•"/>
            </a:pPr>
            <a:r>
              <a:rPr lang="da-DK" dirty="0"/>
              <a:t>Skytten er </a:t>
            </a:r>
            <a:r>
              <a:rPr lang="da-DK" b="1" dirty="0"/>
              <a:t>tæt på mål</a:t>
            </a:r>
          </a:p>
          <a:p>
            <a:pPr marL="285750" indent="-285750">
              <a:buFont typeface="Arial" panose="020B0604020202020204" pitchFamily="34" charset="0"/>
              <a:buChar char="•"/>
            </a:pPr>
            <a:endParaRPr lang="da-DK" dirty="0"/>
          </a:p>
          <a:p>
            <a:pPr marL="285750" indent="-285750">
              <a:buFont typeface="Arial" panose="020B0604020202020204" pitchFamily="34" charset="0"/>
              <a:buChar char="•"/>
            </a:pPr>
            <a:r>
              <a:rPr lang="da-DK" dirty="0"/>
              <a:t>Skudvinklen er god</a:t>
            </a:r>
          </a:p>
          <a:p>
            <a:pPr marL="285750" indent="-285750">
              <a:buFont typeface="Arial" panose="020B0604020202020204" pitchFamily="34" charset="0"/>
              <a:buChar char="•"/>
            </a:pPr>
            <a:endParaRPr lang="da-DK" dirty="0"/>
          </a:p>
          <a:p>
            <a:pPr marL="285750" indent="-285750">
              <a:buFont typeface="Arial" panose="020B0604020202020204" pitchFamily="34" charset="0"/>
              <a:buChar char="•"/>
            </a:pPr>
            <a:r>
              <a:rPr lang="da-DK" dirty="0"/>
              <a:t>Ingen medspiller </a:t>
            </a:r>
            <a:r>
              <a:rPr lang="da-DK" b="1" dirty="0"/>
              <a:t>er markant bedre placeret</a:t>
            </a:r>
          </a:p>
        </p:txBody>
      </p:sp>
    </p:spTree>
    <p:extLst>
      <p:ext uri="{BB962C8B-B14F-4D97-AF65-F5344CB8AC3E}">
        <p14:creationId xmlns:p14="http://schemas.microsoft.com/office/powerpoint/2010/main" val="28786061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ladsholder til indhold 3">
            <a:extLst>
              <a:ext uri="{FF2B5EF4-FFF2-40B4-BE49-F238E27FC236}">
                <a16:creationId xmlns:a16="http://schemas.microsoft.com/office/drawing/2014/main" id="{5CEBEC81-751F-95D8-14C0-FBFCA1F5CCF5}"/>
              </a:ext>
            </a:extLst>
          </p:cNvPr>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b="13185"/>
          <a:stretch>
            <a:fillRect/>
          </a:stretch>
        </p:blipFill>
        <p:spPr bwMode="auto">
          <a:xfrm>
            <a:off x="818121" y="296604"/>
            <a:ext cx="10466993" cy="6059972"/>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0668709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C20CE451-818C-E63D-258B-234B6C543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F98EE41B-8A9E-5415-3F6B-193E390D59B0}"/>
              </a:ext>
            </a:extLst>
          </p:cNvPr>
          <p:cNvSpPr>
            <a:spLocks noGrp="1"/>
          </p:cNvSpPr>
          <p:nvPr>
            <p:ph type="title"/>
          </p:nvPr>
        </p:nvSpPr>
        <p:spPr>
          <a:xfrm>
            <a:off x="71110" y="-763524"/>
            <a:ext cx="4361686" cy="1527048"/>
          </a:xfrm>
        </p:spPr>
        <p:txBody>
          <a:bodyPr anchor="b">
            <a:normAutofit/>
          </a:bodyPr>
          <a:lstStyle/>
          <a:p>
            <a:r>
              <a:rPr lang="da-DK" dirty="0"/>
              <a:t>7.3</a:t>
            </a:r>
          </a:p>
        </p:txBody>
      </p:sp>
      <p:sp>
        <p:nvSpPr>
          <p:cNvPr id="3" name="Pladsholder til indhold 2">
            <a:extLst>
              <a:ext uri="{FF2B5EF4-FFF2-40B4-BE49-F238E27FC236}">
                <a16:creationId xmlns:a16="http://schemas.microsoft.com/office/drawing/2014/main" id="{B52AEC2F-94F6-FF1F-E2F6-AE507C9CD1E5}"/>
              </a:ext>
            </a:extLst>
          </p:cNvPr>
          <p:cNvSpPr>
            <a:spLocks noGrp="1"/>
          </p:cNvSpPr>
          <p:nvPr>
            <p:ph idx="1"/>
          </p:nvPr>
        </p:nvSpPr>
        <p:spPr>
          <a:xfrm>
            <a:off x="71111" y="763523"/>
            <a:ext cx="5885806" cy="6365245"/>
          </a:xfrm>
        </p:spPr>
        <p:txBody>
          <a:bodyPr>
            <a:normAutofit/>
          </a:bodyPr>
          <a:lstStyle/>
          <a:p>
            <a:pPr marL="0" indent="0">
              <a:lnSpc>
                <a:spcPct val="110000"/>
              </a:lnSpc>
              <a:buNone/>
            </a:pPr>
            <a:r>
              <a:rPr lang="da-DK" sz="1200" b="1" dirty="0"/>
              <a:t>Kerneproblem</a:t>
            </a:r>
          </a:p>
          <a:p>
            <a:pPr>
              <a:lnSpc>
                <a:spcPct val="110000"/>
              </a:lnSpc>
            </a:pPr>
            <a:r>
              <a:rPr lang="da-DK" sz="1200" dirty="0"/>
              <a:t>Hvem har adgang til sportsdata – og er det fair? </a:t>
            </a:r>
          </a:p>
          <a:p>
            <a:pPr marL="0" indent="0">
              <a:lnSpc>
                <a:spcPct val="110000"/>
              </a:lnSpc>
              <a:buNone/>
            </a:pPr>
            <a:r>
              <a:rPr lang="da-DK" sz="1200" b="1" dirty="0"/>
              <a:t>Fordele ved databeskyttelse</a:t>
            </a:r>
          </a:p>
          <a:p>
            <a:pPr>
              <a:lnSpc>
                <a:spcPct val="110000"/>
              </a:lnSpc>
            </a:pPr>
            <a:r>
              <a:rPr lang="da-DK" sz="1200" dirty="0"/>
              <a:t>Beskytter investeringer (</a:t>
            </a:r>
            <a:r>
              <a:rPr lang="da-DK" sz="1200" dirty="0" err="1"/>
              <a:t>StatsBomb</a:t>
            </a:r>
            <a:r>
              <a:rPr lang="da-DK" sz="1200" dirty="0"/>
              <a:t>, </a:t>
            </a:r>
            <a:r>
              <a:rPr lang="da-DK" sz="1200" dirty="0" err="1"/>
              <a:t>Wyscout</a:t>
            </a:r>
            <a:r>
              <a:rPr lang="da-DK" sz="1200" dirty="0"/>
              <a:t>) </a:t>
            </a:r>
          </a:p>
          <a:p>
            <a:pPr>
              <a:lnSpc>
                <a:spcPct val="110000"/>
              </a:lnSpc>
            </a:pPr>
            <a:r>
              <a:rPr lang="da-DK" sz="1200" dirty="0"/>
              <a:t>Skaber incitament til innovation </a:t>
            </a:r>
          </a:p>
          <a:p>
            <a:pPr>
              <a:lnSpc>
                <a:spcPct val="110000"/>
              </a:lnSpc>
            </a:pPr>
            <a:r>
              <a:rPr lang="da-DK" sz="1200" dirty="0"/>
              <a:t>Muliggør avancerede analyser </a:t>
            </a:r>
          </a:p>
          <a:p>
            <a:pPr marL="0" indent="0">
              <a:lnSpc>
                <a:spcPct val="110000"/>
              </a:lnSpc>
              <a:buNone/>
            </a:pPr>
            <a:r>
              <a:rPr lang="da-DK" sz="1200" b="1" dirty="0"/>
              <a:t>Udfordringer</a:t>
            </a:r>
          </a:p>
          <a:p>
            <a:pPr>
              <a:lnSpc>
                <a:spcPct val="110000"/>
              </a:lnSpc>
            </a:pPr>
            <a:r>
              <a:rPr lang="da-DK" sz="1200" dirty="0"/>
              <a:t>Store klubber får større fordel </a:t>
            </a:r>
          </a:p>
          <a:p>
            <a:pPr>
              <a:lnSpc>
                <a:spcPct val="110000"/>
              </a:lnSpc>
            </a:pPr>
            <a:r>
              <a:rPr lang="da-DK" sz="1200" dirty="0"/>
              <a:t>Små klubber udelukkes </a:t>
            </a:r>
          </a:p>
          <a:p>
            <a:pPr>
              <a:lnSpc>
                <a:spcPct val="110000"/>
              </a:lnSpc>
            </a:pPr>
            <a:r>
              <a:rPr lang="da-DK" sz="1200" dirty="0"/>
              <a:t>Data bliver en konkurrenceparameter </a:t>
            </a:r>
          </a:p>
          <a:p>
            <a:pPr marL="0" indent="0">
              <a:lnSpc>
                <a:spcPct val="110000"/>
              </a:lnSpc>
              <a:buNone/>
            </a:pPr>
            <a:r>
              <a:rPr lang="da-DK" sz="1200" b="1" dirty="0"/>
              <a:t>Etisk dilemma</a:t>
            </a:r>
          </a:p>
          <a:p>
            <a:pPr>
              <a:lnSpc>
                <a:spcPct val="110000"/>
              </a:lnSpc>
            </a:pPr>
            <a:r>
              <a:rPr lang="da-DK" sz="1200" dirty="0"/>
              <a:t>Effektivitet vs. retfærdighed </a:t>
            </a:r>
          </a:p>
          <a:p>
            <a:pPr>
              <a:lnSpc>
                <a:spcPct val="110000"/>
              </a:lnSpc>
            </a:pPr>
            <a:r>
              <a:rPr lang="da-DK" sz="1200" dirty="0"/>
              <a:t>Lukket data vs. vidensdeling </a:t>
            </a:r>
          </a:p>
          <a:p>
            <a:pPr marL="0" indent="0">
              <a:lnSpc>
                <a:spcPct val="110000"/>
              </a:lnSpc>
              <a:buNone/>
            </a:pPr>
            <a:r>
              <a:rPr lang="da-DK" sz="1200" b="1" dirty="0"/>
              <a:t>Konklusion</a:t>
            </a:r>
          </a:p>
          <a:p>
            <a:pPr>
              <a:lnSpc>
                <a:spcPct val="110000"/>
              </a:lnSpc>
            </a:pPr>
            <a:r>
              <a:rPr lang="da-DK" sz="1200" dirty="0"/>
              <a:t>Ingen simpel løsning </a:t>
            </a:r>
          </a:p>
          <a:p>
            <a:pPr>
              <a:lnSpc>
                <a:spcPct val="110000"/>
              </a:lnSpc>
            </a:pPr>
            <a:r>
              <a:rPr lang="da-DK" sz="1200" dirty="0"/>
              <a:t>Balance er afgørende mellem: </a:t>
            </a:r>
          </a:p>
          <a:p>
            <a:pPr lvl="1">
              <a:lnSpc>
                <a:spcPct val="110000"/>
              </a:lnSpc>
            </a:pPr>
            <a:r>
              <a:rPr lang="da-DK" sz="1200" dirty="0"/>
              <a:t>Innovation </a:t>
            </a:r>
          </a:p>
          <a:p>
            <a:pPr lvl="1">
              <a:lnSpc>
                <a:spcPct val="110000"/>
              </a:lnSpc>
            </a:pPr>
            <a:r>
              <a:rPr lang="da-DK" sz="1200" dirty="0"/>
              <a:t>Konkurrence </a:t>
            </a:r>
          </a:p>
          <a:p>
            <a:pPr lvl="1">
              <a:lnSpc>
                <a:spcPct val="110000"/>
              </a:lnSpc>
            </a:pPr>
            <a:r>
              <a:rPr lang="da-DK" sz="1200" dirty="0"/>
              <a:t>Retfærdighed</a:t>
            </a:r>
          </a:p>
          <a:p>
            <a:pPr>
              <a:lnSpc>
                <a:spcPct val="110000"/>
              </a:lnSpc>
            </a:pPr>
            <a:endParaRPr lang="da-DK" sz="1200" dirty="0"/>
          </a:p>
        </p:txBody>
      </p:sp>
      <p:pic>
        <p:nvPicPr>
          <p:cNvPr id="1026" name="Picture 2" descr="Hudl Statsbomb - The World’s Most Advanced Football Data">
            <a:extLst>
              <a:ext uri="{FF2B5EF4-FFF2-40B4-BE49-F238E27FC236}">
                <a16:creationId xmlns:a16="http://schemas.microsoft.com/office/drawing/2014/main" id="{D606D009-F92A-512E-336D-6E23C92DDF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1767" r="17363" b="2"/>
          <a:stretch>
            <a:fillRect/>
          </a:stretch>
        </p:blipFill>
        <p:spPr bwMode="auto">
          <a:xfrm>
            <a:off x="5818632" y="-1"/>
            <a:ext cx="6373368" cy="6858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2482239"/>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a4ba1c1d-bc0f-4c98-9da8-371d8b0e7b0b"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kument" ma:contentTypeID="0x010100CAAA3CFADCB6374C9FC96738B4C244B3" ma:contentTypeVersion="9" ma:contentTypeDescription="Opret et nyt dokument." ma:contentTypeScope="" ma:versionID="76c53140877b149089819886707a0fa2">
  <xsd:schema xmlns:xsd="http://www.w3.org/2001/XMLSchema" xmlns:xs="http://www.w3.org/2001/XMLSchema" xmlns:p="http://schemas.microsoft.com/office/2006/metadata/properties" xmlns:ns3="a4ba1c1d-bc0f-4c98-9da8-371d8b0e7b0b" targetNamespace="http://schemas.microsoft.com/office/2006/metadata/properties" ma:root="true" ma:fieldsID="cbdaaecde52404b035ab619dee259217" ns3:_="">
    <xsd:import namespace="a4ba1c1d-bc0f-4c98-9da8-371d8b0e7b0b"/>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SystemTags" minOccurs="0"/>
                <xsd:element ref="ns3:MediaServiceGenerationTime" minOccurs="0"/>
                <xsd:element ref="ns3:MediaServiceEventHashCode" minOccurs="0"/>
                <xsd:element ref="ns3:MediaLengthInSecond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ba1c1d-bc0f-4c98-9da8-371d8b0e7b0b"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SystemTags" ma:index="12" nillable="true" ma:displayName="MediaServiceSystemTags" ma:hidden="true" ma:internalName="MediaServiceSystemTags" ma:readOnly="true">
      <xsd:simpleType>
        <xsd:restriction base="dms:Note"/>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_activity" ma:index="16"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dhol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6DFC8F1-6B98-4FBC-A5AC-8A35931059AF}">
  <ds:schemaRefs>
    <ds:schemaRef ds:uri="http://schemas.microsoft.com/sharepoint/v3/contenttype/forms"/>
  </ds:schemaRefs>
</ds:datastoreItem>
</file>

<file path=customXml/itemProps2.xml><?xml version="1.0" encoding="utf-8"?>
<ds:datastoreItem xmlns:ds="http://schemas.openxmlformats.org/officeDocument/2006/customXml" ds:itemID="{C46B8E85-1764-44F9-9A8C-76D7452CDD04}">
  <ds:schemaRefs>
    <ds:schemaRef ds:uri="http://purl.org/dc/terms/"/>
    <ds:schemaRef ds:uri="http://purl.org/dc/elements/1.1/"/>
    <ds:schemaRef ds:uri="http://schemas.microsoft.com/office/2006/documentManagement/types"/>
    <ds:schemaRef ds:uri="http://www.w3.org/XML/1998/namespace"/>
    <ds:schemaRef ds:uri="http://schemas.microsoft.com/office/2006/metadata/properties"/>
    <ds:schemaRef ds:uri="http://schemas.microsoft.com/office/infopath/2007/PartnerControls"/>
    <ds:schemaRef ds:uri="http://schemas.openxmlformats.org/package/2006/metadata/core-properties"/>
    <ds:schemaRef ds:uri="a4ba1c1d-bc0f-4c98-9da8-371d8b0e7b0b"/>
    <ds:schemaRef ds:uri="http://purl.org/dc/dcmitype/"/>
  </ds:schemaRefs>
</ds:datastoreItem>
</file>

<file path=customXml/itemProps3.xml><?xml version="1.0" encoding="utf-8"?>
<ds:datastoreItem xmlns:ds="http://schemas.openxmlformats.org/officeDocument/2006/customXml" ds:itemID="{1E3F225C-7F94-4355-A308-149587DAE10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4ba1c1d-bc0f-4c98-9da8-371d8b0e7b0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62</TotalTime>
  <Words>496</Words>
  <Application>Microsoft Office PowerPoint</Application>
  <PresentationFormat>Widescreen</PresentationFormat>
  <Paragraphs>85</Paragraphs>
  <Slides>10</Slides>
  <Notes>1</Notes>
  <HiddenSlides>0</HiddenSlides>
  <MMClips>0</MMClips>
  <ScaleCrop>false</ScaleCrop>
  <HeadingPairs>
    <vt:vector size="4" baseType="variant">
      <vt:variant>
        <vt:lpstr>Tema</vt:lpstr>
      </vt:variant>
      <vt:variant>
        <vt:i4>1</vt:i4>
      </vt:variant>
      <vt:variant>
        <vt:lpstr>Slidetitler</vt:lpstr>
      </vt:variant>
      <vt:variant>
        <vt:i4>10</vt:i4>
      </vt:variant>
    </vt:vector>
  </HeadingPairs>
  <TitlesOfParts>
    <vt:vector size="11" baseType="lpstr">
      <vt:lpstr>VanillaVTI</vt:lpstr>
      <vt:lpstr>Opgave 5 + 7.3</vt:lpstr>
      <vt:lpstr>Data og datasæt</vt:lpstr>
      <vt:lpstr>Kvinder vælger bedre skudmuligheder De afslutter i gennemsnit tættere på mål end mænd</vt:lpstr>
      <vt:lpstr>Mænd skyder oftere fra lavere kvalitet positioner Når afstanden til mål stiger, falder xG tydeligt for begge køn, men mænd tager oftere skud langt fra mål</vt:lpstr>
      <vt:lpstr>Kvinder skaber flere afslutninger pr. kamp Flere skud tyder på et mere kollektivt og struktureret angrebsspil</vt:lpstr>
      <vt:lpstr>Mænd tager flere ego-skud Tendens til, at mænd oftere ignorerer bedre placerede medspillere</vt:lpstr>
      <vt:lpstr>Case 1 Ikke alle skud er lige gode</vt:lpstr>
      <vt:lpstr>Case 2 God beslutning</vt:lpstr>
      <vt:lpstr>PowerPoint-præsentation</vt:lpstr>
      <vt:lpstr>7.3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Mehdi Haidar Abul Jamous</dc:creator>
  <cp:lastModifiedBy>Mehdi Haidar Abul Jamous</cp:lastModifiedBy>
  <cp:revision>2</cp:revision>
  <dcterms:created xsi:type="dcterms:W3CDTF">2026-04-11T23:13:51Z</dcterms:created>
  <dcterms:modified xsi:type="dcterms:W3CDTF">2026-04-13T17:46:16Z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2026-04-11T23:13:52Z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9aafd452-b819-40a3-a400-f94ff33b0125</vt:lpwstr>
  </property>
  <property fmtid="{D5CDD505-2E9C-101B-9397-08002B2CF9AE}" pid="7" name="MSIP_Label_defa4170-0d19-0005-0004-bc88714345d2_ActionId">
    <vt:lpwstr>939744ce-781d-4617-b18b-44403f5d23ce</vt:lpwstr>
  </property>
  <property fmtid="{D5CDD505-2E9C-101B-9397-08002B2CF9AE}" pid="8" name="MSIP_Label_defa4170-0d19-0005-0004-bc88714345d2_ContentBits">
    <vt:lpwstr>0</vt:lpwstr>
  </property>
  <property fmtid="{D5CDD505-2E9C-101B-9397-08002B2CF9AE}" pid="9" name="MSIP_Label_defa4170-0d19-0005-0004-bc88714345d2_Tag">
    <vt:lpwstr>10, 3, 0, 1</vt:lpwstr>
  </property>
  <property fmtid="{D5CDD505-2E9C-101B-9397-08002B2CF9AE}" pid="10" name="ContentTypeId">
    <vt:lpwstr>0x010100CAAA3CFADCB6374C9FC96738B4C244B3</vt:lpwstr>
  </property>
</Properties>
</file>