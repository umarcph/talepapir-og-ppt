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1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65" r:id="rId1"/>
  </p:sldMasterIdLst>
  <p:notesMasterIdLst>
    <p:notesMasterId r:id="rId16"/>
  </p:notesMasterIdLst>
  <p:sldIdLst>
    <p:sldId id="256" r:id="rId2"/>
    <p:sldId id="265" r:id="rId3"/>
    <p:sldId id="266" r:id="rId4"/>
    <p:sldId id="267" r:id="rId5"/>
    <p:sldId id="268" r:id="rId6"/>
    <p:sldId id="269" r:id="rId7"/>
    <p:sldId id="270" r:id="rId8"/>
    <p:sldId id="271" r:id="rId9"/>
    <p:sldId id="272" r:id="rId10"/>
    <p:sldId id="273" r:id="rId11"/>
    <p:sldId id="274" r:id="rId12"/>
    <p:sldId id="275" r:id="rId13"/>
    <p:sldId id="276" r:id="rId14"/>
    <p:sldId id="277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E00"/>
    <a:srgbClr val="F6D200"/>
    <a:srgbClr val="D7B9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0660B408-B3CF-4A94-85FC-2B1E0A45F4A2}" styleName="Mørkt layout 2 - Markering 1/Markering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3C2FFA5D-87B4-456A-9821-1D502468CF0F}" styleName="Tema til typografi 1 - Markering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69012ECD-51FC-41F1-AA8D-1B2483CD663E}" styleName="Lyst layout 2 - Markering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72833802-FEF1-4C79-8D5D-14CF1EAF98D9}" styleName="Lyst layout 2 - Markering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F2DE63D5-997A-4646-A377-4702673A728D}" styleName="Lyst layout 2 - Markering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7E9639D4-E3E2-4D34-9284-5A2195B3D0D7}" styleName="Lyst layou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5C22544A-7EE6-4342-B048-85BDC9FD1C3A}" styleName="Mellemlayout 2 - Markering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E8034E78-7F5D-4C2E-B375-FC64B27BC917}" styleName="Mørkt layout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125E5076-3810-47DD-B79F-674D7AD40C01}" styleName="Mørkt layout 1 - Markering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B301B821-A1FF-4177-AEE7-76D212191A09}" styleName="Mellemlayout 1 - Markering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10A1B5D5-9B99-4C35-A422-299274C87663}" styleName="Mellemlayout 1 - Markering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364"/>
    <p:restoredTop sz="94643"/>
  </p:normalViewPr>
  <p:slideViewPr>
    <p:cSldViewPr snapToGrid="0">
      <p:cViewPr varScale="1">
        <p:scale>
          <a:sx n="110" d="100"/>
          <a:sy n="110" d="100"/>
        </p:scale>
        <p:origin x="536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0672743A-CD65-7D47-84AF-B91BC7898F6B}" type="doc">
      <dgm:prSet loTypeId="urn:microsoft.com/office/officeart/2005/8/layout/hChevron3" loCatId="" qsTypeId="urn:microsoft.com/office/officeart/2005/8/quickstyle/simple1" qsCatId="simple" csTypeId="urn:microsoft.com/office/officeart/2005/8/colors/colorful1" csCatId="colorful" phldr="1"/>
      <dgm:spPr/>
    </dgm:pt>
    <dgm:pt modelId="{65D5B68C-7DF3-6B48-8803-8EFCB45F93B3}">
      <dgm:prSet phldrT="[Tekst]" custT="1"/>
      <dgm:spPr/>
      <dgm:t>
        <a:bodyPr/>
        <a:lstStyle/>
        <a:p>
          <a:r>
            <a:rPr lang="da-DK" sz="1600" b="1" dirty="0"/>
            <a:t>Data</a:t>
          </a:r>
          <a:endParaRPr lang="da-DK" sz="1200" b="1" dirty="0"/>
        </a:p>
      </dgm:t>
    </dgm:pt>
    <dgm:pt modelId="{FEEC6049-CEF9-5D4C-A847-20AD342D9DAB}" type="parTrans" cxnId="{B4BF2DB3-F304-134B-BD9F-245BF6DC7119}">
      <dgm:prSet/>
      <dgm:spPr/>
      <dgm:t>
        <a:bodyPr/>
        <a:lstStyle/>
        <a:p>
          <a:endParaRPr lang="da-DK"/>
        </a:p>
      </dgm:t>
    </dgm:pt>
    <dgm:pt modelId="{E73AC554-B171-BB42-89D5-D50E2B44CCE9}" type="sibTrans" cxnId="{B4BF2DB3-F304-134B-BD9F-245BF6DC7119}">
      <dgm:prSet/>
      <dgm:spPr/>
      <dgm:t>
        <a:bodyPr/>
        <a:lstStyle/>
        <a:p>
          <a:endParaRPr lang="da-DK"/>
        </a:p>
      </dgm:t>
    </dgm:pt>
    <dgm:pt modelId="{8C5D827C-E0F7-E543-8351-2717EBCD577D}">
      <dgm:prSet phldrT="[Tekst]" custT="1"/>
      <dgm:spPr/>
      <dgm:t>
        <a:bodyPr/>
        <a:lstStyle/>
        <a:p>
          <a:r>
            <a:rPr lang="da-DK" sz="1600" b="1" dirty="0"/>
            <a:t>Rensning</a:t>
          </a:r>
          <a:endParaRPr lang="da-DK" sz="1200" b="1" dirty="0"/>
        </a:p>
      </dgm:t>
    </dgm:pt>
    <dgm:pt modelId="{648FE173-0800-3E43-B6D1-BA50A089B358}" type="parTrans" cxnId="{A3497C61-45C8-4D4A-BC23-224530776300}">
      <dgm:prSet/>
      <dgm:spPr/>
      <dgm:t>
        <a:bodyPr/>
        <a:lstStyle/>
        <a:p>
          <a:endParaRPr lang="da-DK"/>
        </a:p>
      </dgm:t>
    </dgm:pt>
    <dgm:pt modelId="{4D94491B-9428-0A40-BC94-49DAA4A4B403}" type="sibTrans" cxnId="{A3497C61-45C8-4D4A-BC23-224530776300}">
      <dgm:prSet/>
      <dgm:spPr/>
      <dgm:t>
        <a:bodyPr/>
        <a:lstStyle/>
        <a:p>
          <a:endParaRPr lang="da-DK"/>
        </a:p>
      </dgm:t>
    </dgm:pt>
    <dgm:pt modelId="{46FC99B0-1D01-C74C-BE37-FBF4887EC475}">
      <dgm:prSet phldrT="[Tekst]"/>
      <dgm:spPr/>
      <dgm:t>
        <a:bodyPr/>
        <a:lstStyle/>
        <a:p>
          <a:r>
            <a:rPr lang="da-DK" b="1" dirty="0"/>
            <a:t>Fortolkning</a:t>
          </a:r>
        </a:p>
      </dgm:t>
    </dgm:pt>
    <dgm:pt modelId="{78352BD6-386A-B749-880A-33749A86B9B4}" type="parTrans" cxnId="{09E409C8-2A9F-E94C-917C-B888523F00B3}">
      <dgm:prSet/>
      <dgm:spPr/>
      <dgm:t>
        <a:bodyPr/>
        <a:lstStyle/>
        <a:p>
          <a:endParaRPr lang="da-DK"/>
        </a:p>
      </dgm:t>
    </dgm:pt>
    <dgm:pt modelId="{FA87B72E-B408-734C-B5D3-A42A4B1CE19D}" type="sibTrans" cxnId="{09E409C8-2A9F-E94C-917C-B888523F00B3}">
      <dgm:prSet/>
      <dgm:spPr/>
      <dgm:t>
        <a:bodyPr/>
        <a:lstStyle/>
        <a:p>
          <a:endParaRPr lang="da-DK"/>
        </a:p>
      </dgm:t>
    </dgm:pt>
    <dgm:pt modelId="{4CECF2B8-5947-CD4D-9BD8-2C1FD3F236A8}">
      <dgm:prSet custT="1"/>
      <dgm:spPr/>
      <dgm:t>
        <a:bodyPr/>
        <a:lstStyle/>
        <a:p>
          <a:r>
            <a:rPr lang="da-DK" sz="1600" b="1" dirty="0"/>
            <a:t>Elbow </a:t>
          </a:r>
          <a:r>
            <a:rPr lang="da-DK" sz="1600" b="1" dirty="0" err="1"/>
            <a:t>method</a:t>
          </a:r>
          <a:endParaRPr lang="da-DK" sz="1600" b="1" dirty="0"/>
        </a:p>
      </dgm:t>
    </dgm:pt>
    <dgm:pt modelId="{DF4056B9-AF5C-0847-9EDE-187971C92C33}" type="parTrans" cxnId="{25B9C9B8-41B0-2946-B81F-24BB6A611A23}">
      <dgm:prSet/>
      <dgm:spPr/>
      <dgm:t>
        <a:bodyPr/>
        <a:lstStyle/>
        <a:p>
          <a:endParaRPr lang="da-DK"/>
        </a:p>
      </dgm:t>
    </dgm:pt>
    <dgm:pt modelId="{BE2CE09A-3F70-F74C-996E-E878590F9B42}" type="sibTrans" cxnId="{25B9C9B8-41B0-2946-B81F-24BB6A611A23}">
      <dgm:prSet/>
      <dgm:spPr/>
      <dgm:t>
        <a:bodyPr/>
        <a:lstStyle/>
        <a:p>
          <a:endParaRPr lang="da-DK"/>
        </a:p>
      </dgm:t>
    </dgm:pt>
    <dgm:pt modelId="{AAA08182-7F63-5E4F-8B4F-AB1E9FDF1CD3}">
      <dgm:prSet/>
      <dgm:spPr/>
      <dgm:t>
        <a:bodyPr/>
        <a:lstStyle/>
        <a:p>
          <a:r>
            <a:rPr lang="da-DK" b="1" dirty="0"/>
            <a:t>K-</a:t>
          </a:r>
          <a:r>
            <a:rPr lang="da-DK" b="1" dirty="0" err="1"/>
            <a:t>means</a:t>
          </a:r>
          <a:endParaRPr lang="da-DK" b="1" dirty="0"/>
        </a:p>
      </dgm:t>
    </dgm:pt>
    <dgm:pt modelId="{CE10E947-012B-C042-BE34-8AEAF23E603B}" type="parTrans" cxnId="{CF6B4EEE-2FE3-AC43-922A-9CAE273D6DF6}">
      <dgm:prSet/>
      <dgm:spPr/>
      <dgm:t>
        <a:bodyPr/>
        <a:lstStyle/>
        <a:p>
          <a:endParaRPr lang="da-DK"/>
        </a:p>
      </dgm:t>
    </dgm:pt>
    <dgm:pt modelId="{F19D383E-F93D-F940-A9F3-C21FA6A3139C}" type="sibTrans" cxnId="{CF6B4EEE-2FE3-AC43-922A-9CAE273D6DF6}">
      <dgm:prSet/>
      <dgm:spPr/>
      <dgm:t>
        <a:bodyPr/>
        <a:lstStyle/>
        <a:p>
          <a:endParaRPr lang="da-DK"/>
        </a:p>
      </dgm:t>
    </dgm:pt>
    <dgm:pt modelId="{47687421-8D7E-7348-85A0-15A9431FF922}">
      <dgm:prSet custT="1"/>
      <dgm:spPr/>
      <dgm:t>
        <a:bodyPr/>
        <a:lstStyle/>
        <a:p>
          <a:r>
            <a:rPr lang="da-DK" sz="1400" b="1" dirty="0"/>
            <a:t>Standardisering</a:t>
          </a:r>
          <a:endParaRPr lang="da-DK" sz="1200" b="1" dirty="0"/>
        </a:p>
      </dgm:t>
    </dgm:pt>
    <dgm:pt modelId="{BDC4C744-FD1D-1146-AEF9-ACCA5DA4BFE7}" type="parTrans" cxnId="{917887BE-A170-3240-B044-AC389CFFBF4A}">
      <dgm:prSet/>
      <dgm:spPr/>
      <dgm:t>
        <a:bodyPr/>
        <a:lstStyle/>
        <a:p>
          <a:endParaRPr lang="da-DK"/>
        </a:p>
      </dgm:t>
    </dgm:pt>
    <dgm:pt modelId="{FE391C2F-E56D-B945-97B0-F89DBB3F93E6}" type="sibTrans" cxnId="{917887BE-A170-3240-B044-AC389CFFBF4A}">
      <dgm:prSet/>
      <dgm:spPr/>
      <dgm:t>
        <a:bodyPr/>
        <a:lstStyle/>
        <a:p>
          <a:endParaRPr lang="da-DK"/>
        </a:p>
      </dgm:t>
    </dgm:pt>
    <dgm:pt modelId="{F7EF29D8-6EF3-3345-A979-3FC24540E800}" type="pres">
      <dgm:prSet presAssocID="{0672743A-CD65-7D47-84AF-B91BC7898F6B}" presName="Name0" presStyleCnt="0">
        <dgm:presLayoutVars>
          <dgm:dir/>
          <dgm:resizeHandles val="exact"/>
        </dgm:presLayoutVars>
      </dgm:prSet>
      <dgm:spPr/>
    </dgm:pt>
    <dgm:pt modelId="{6571859D-6658-944C-A33E-DC2C0BA0A5D2}" type="pres">
      <dgm:prSet presAssocID="{65D5B68C-7DF3-6B48-8803-8EFCB45F93B3}" presName="parTxOnly" presStyleLbl="node1" presStyleIdx="0" presStyleCnt="6">
        <dgm:presLayoutVars>
          <dgm:bulletEnabled val="1"/>
        </dgm:presLayoutVars>
      </dgm:prSet>
      <dgm:spPr/>
    </dgm:pt>
    <dgm:pt modelId="{F1DDE651-E385-584F-9A7E-4BBB743F7779}" type="pres">
      <dgm:prSet presAssocID="{E73AC554-B171-BB42-89D5-D50E2B44CCE9}" presName="parSpace" presStyleCnt="0"/>
      <dgm:spPr/>
    </dgm:pt>
    <dgm:pt modelId="{207AD47F-F56A-1644-8FA6-FFF042F13970}" type="pres">
      <dgm:prSet presAssocID="{8C5D827C-E0F7-E543-8351-2717EBCD577D}" presName="parTxOnly" presStyleLbl="node1" presStyleIdx="1" presStyleCnt="6">
        <dgm:presLayoutVars>
          <dgm:bulletEnabled val="1"/>
        </dgm:presLayoutVars>
      </dgm:prSet>
      <dgm:spPr/>
    </dgm:pt>
    <dgm:pt modelId="{1FE81DEE-3898-044B-B12A-8AB67E1EEE39}" type="pres">
      <dgm:prSet presAssocID="{4D94491B-9428-0A40-BC94-49DAA4A4B403}" presName="parSpace" presStyleCnt="0"/>
      <dgm:spPr/>
    </dgm:pt>
    <dgm:pt modelId="{B01E30B0-9DA0-A04F-8A34-F4A0C8A14809}" type="pres">
      <dgm:prSet presAssocID="{47687421-8D7E-7348-85A0-15A9431FF922}" presName="parTxOnly" presStyleLbl="node1" presStyleIdx="2" presStyleCnt="6">
        <dgm:presLayoutVars>
          <dgm:bulletEnabled val="1"/>
        </dgm:presLayoutVars>
      </dgm:prSet>
      <dgm:spPr/>
    </dgm:pt>
    <dgm:pt modelId="{D48A2B27-C32E-574C-84B1-956031F12F1D}" type="pres">
      <dgm:prSet presAssocID="{FE391C2F-E56D-B945-97B0-F89DBB3F93E6}" presName="parSpace" presStyleCnt="0"/>
      <dgm:spPr/>
    </dgm:pt>
    <dgm:pt modelId="{810F4C60-C4BB-1F45-98DF-4333F3E89F6D}" type="pres">
      <dgm:prSet presAssocID="{4CECF2B8-5947-CD4D-9BD8-2C1FD3F236A8}" presName="parTxOnly" presStyleLbl="node1" presStyleIdx="3" presStyleCnt="6">
        <dgm:presLayoutVars>
          <dgm:bulletEnabled val="1"/>
        </dgm:presLayoutVars>
      </dgm:prSet>
      <dgm:spPr/>
    </dgm:pt>
    <dgm:pt modelId="{7BB9123A-5720-914A-9B62-33680DB31637}" type="pres">
      <dgm:prSet presAssocID="{BE2CE09A-3F70-F74C-996E-E878590F9B42}" presName="parSpace" presStyleCnt="0"/>
      <dgm:spPr/>
    </dgm:pt>
    <dgm:pt modelId="{A8180BA3-652D-4449-BE30-95E1BD52F0D3}" type="pres">
      <dgm:prSet presAssocID="{AAA08182-7F63-5E4F-8B4F-AB1E9FDF1CD3}" presName="parTxOnly" presStyleLbl="node1" presStyleIdx="4" presStyleCnt="6">
        <dgm:presLayoutVars>
          <dgm:bulletEnabled val="1"/>
        </dgm:presLayoutVars>
      </dgm:prSet>
      <dgm:spPr/>
    </dgm:pt>
    <dgm:pt modelId="{F07D2843-18ED-9442-A362-6AFA083DC735}" type="pres">
      <dgm:prSet presAssocID="{F19D383E-F93D-F940-A9F3-C21FA6A3139C}" presName="parSpace" presStyleCnt="0"/>
      <dgm:spPr/>
    </dgm:pt>
    <dgm:pt modelId="{CC902C0B-5968-FA48-B7DA-3B5C4EE64157}" type="pres">
      <dgm:prSet presAssocID="{46FC99B0-1D01-C74C-BE37-FBF4887EC475}" presName="parTxOnly" presStyleLbl="node1" presStyleIdx="5" presStyleCnt="6">
        <dgm:presLayoutVars>
          <dgm:bulletEnabled val="1"/>
        </dgm:presLayoutVars>
      </dgm:prSet>
      <dgm:spPr/>
    </dgm:pt>
  </dgm:ptLst>
  <dgm:cxnLst>
    <dgm:cxn modelId="{78D1DE14-0B08-8645-BF61-2A77CC6A77B9}" type="presOf" srcId="{46FC99B0-1D01-C74C-BE37-FBF4887EC475}" destId="{CC902C0B-5968-FA48-B7DA-3B5C4EE64157}" srcOrd="0" destOrd="0" presId="urn:microsoft.com/office/officeart/2005/8/layout/hChevron3"/>
    <dgm:cxn modelId="{F2E28119-11B4-D945-B1E7-56D9096283AA}" type="presOf" srcId="{47687421-8D7E-7348-85A0-15A9431FF922}" destId="{B01E30B0-9DA0-A04F-8A34-F4A0C8A14809}" srcOrd="0" destOrd="0" presId="urn:microsoft.com/office/officeart/2005/8/layout/hChevron3"/>
    <dgm:cxn modelId="{A3497C61-45C8-4D4A-BC23-224530776300}" srcId="{0672743A-CD65-7D47-84AF-B91BC7898F6B}" destId="{8C5D827C-E0F7-E543-8351-2717EBCD577D}" srcOrd="1" destOrd="0" parTransId="{648FE173-0800-3E43-B6D1-BA50A089B358}" sibTransId="{4D94491B-9428-0A40-BC94-49DAA4A4B403}"/>
    <dgm:cxn modelId="{36C92479-01C4-D74D-8BAE-3439B423B79F}" type="presOf" srcId="{AAA08182-7F63-5E4F-8B4F-AB1E9FDF1CD3}" destId="{A8180BA3-652D-4449-BE30-95E1BD52F0D3}" srcOrd="0" destOrd="0" presId="urn:microsoft.com/office/officeart/2005/8/layout/hChevron3"/>
    <dgm:cxn modelId="{D7C8827A-C40A-F64B-B1FC-05928DBE9855}" type="presOf" srcId="{65D5B68C-7DF3-6B48-8803-8EFCB45F93B3}" destId="{6571859D-6658-944C-A33E-DC2C0BA0A5D2}" srcOrd="0" destOrd="0" presId="urn:microsoft.com/office/officeart/2005/8/layout/hChevron3"/>
    <dgm:cxn modelId="{D081978D-DC1A-0A41-8103-BCDCF29350D4}" type="presOf" srcId="{4CECF2B8-5947-CD4D-9BD8-2C1FD3F236A8}" destId="{810F4C60-C4BB-1F45-98DF-4333F3E89F6D}" srcOrd="0" destOrd="0" presId="urn:microsoft.com/office/officeart/2005/8/layout/hChevron3"/>
    <dgm:cxn modelId="{E25D61A4-B772-4042-8EAC-308BDA123356}" type="presOf" srcId="{0672743A-CD65-7D47-84AF-B91BC7898F6B}" destId="{F7EF29D8-6EF3-3345-A979-3FC24540E800}" srcOrd="0" destOrd="0" presId="urn:microsoft.com/office/officeart/2005/8/layout/hChevron3"/>
    <dgm:cxn modelId="{A2E5D3A5-D72D-664C-892B-5E998CA4906A}" type="presOf" srcId="{8C5D827C-E0F7-E543-8351-2717EBCD577D}" destId="{207AD47F-F56A-1644-8FA6-FFF042F13970}" srcOrd="0" destOrd="0" presId="urn:microsoft.com/office/officeart/2005/8/layout/hChevron3"/>
    <dgm:cxn modelId="{B4BF2DB3-F304-134B-BD9F-245BF6DC7119}" srcId="{0672743A-CD65-7D47-84AF-B91BC7898F6B}" destId="{65D5B68C-7DF3-6B48-8803-8EFCB45F93B3}" srcOrd="0" destOrd="0" parTransId="{FEEC6049-CEF9-5D4C-A847-20AD342D9DAB}" sibTransId="{E73AC554-B171-BB42-89D5-D50E2B44CCE9}"/>
    <dgm:cxn modelId="{25B9C9B8-41B0-2946-B81F-24BB6A611A23}" srcId="{0672743A-CD65-7D47-84AF-B91BC7898F6B}" destId="{4CECF2B8-5947-CD4D-9BD8-2C1FD3F236A8}" srcOrd="3" destOrd="0" parTransId="{DF4056B9-AF5C-0847-9EDE-187971C92C33}" sibTransId="{BE2CE09A-3F70-F74C-996E-E878590F9B42}"/>
    <dgm:cxn modelId="{917887BE-A170-3240-B044-AC389CFFBF4A}" srcId="{0672743A-CD65-7D47-84AF-B91BC7898F6B}" destId="{47687421-8D7E-7348-85A0-15A9431FF922}" srcOrd="2" destOrd="0" parTransId="{BDC4C744-FD1D-1146-AEF9-ACCA5DA4BFE7}" sibTransId="{FE391C2F-E56D-B945-97B0-F89DBB3F93E6}"/>
    <dgm:cxn modelId="{09E409C8-2A9F-E94C-917C-B888523F00B3}" srcId="{0672743A-CD65-7D47-84AF-B91BC7898F6B}" destId="{46FC99B0-1D01-C74C-BE37-FBF4887EC475}" srcOrd="5" destOrd="0" parTransId="{78352BD6-386A-B749-880A-33749A86B9B4}" sibTransId="{FA87B72E-B408-734C-B5D3-A42A4B1CE19D}"/>
    <dgm:cxn modelId="{CF6B4EEE-2FE3-AC43-922A-9CAE273D6DF6}" srcId="{0672743A-CD65-7D47-84AF-B91BC7898F6B}" destId="{AAA08182-7F63-5E4F-8B4F-AB1E9FDF1CD3}" srcOrd="4" destOrd="0" parTransId="{CE10E947-012B-C042-BE34-8AEAF23E603B}" sibTransId="{F19D383E-F93D-F940-A9F3-C21FA6A3139C}"/>
    <dgm:cxn modelId="{27961F4F-1246-6040-8A00-A93AFDD96D61}" type="presParOf" srcId="{F7EF29D8-6EF3-3345-A979-3FC24540E800}" destId="{6571859D-6658-944C-A33E-DC2C0BA0A5D2}" srcOrd="0" destOrd="0" presId="urn:microsoft.com/office/officeart/2005/8/layout/hChevron3"/>
    <dgm:cxn modelId="{93DF7970-2E15-1B49-BF32-49FE5D2B27BF}" type="presParOf" srcId="{F7EF29D8-6EF3-3345-A979-3FC24540E800}" destId="{F1DDE651-E385-584F-9A7E-4BBB743F7779}" srcOrd="1" destOrd="0" presId="urn:microsoft.com/office/officeart/2005/8/layout/hChevron3"/>
    <dgm:cxn modelId="{C12FB108-0A96-DF47-9484-59C99F1384C4}" type="presParOf" srcId="{F7EF29D8-6EF3-3345-A979-3FC24540E800}" destId="{207AD47F-F56A-1644-8FA6-FFF042F13970}" srcOrd="2" destOrd="0" presId="urn:microsoft.com/office/officeart/2005/8/layout/hChevron3"/>
    <dgm:cxn modelId="{13E868C2-E550-5042-AF88-0FAEB55C59E3}" type="presParOf" srcId="{F7EF29D8-6EF3-3345-A979-3FC24540E800}" destId="{1FE81DEE-3898-044B-B12A-8AB67E1EEE39}" srcOrd="3" destOrd="0" presId="urn:microsoft.com/office/officeart/2005/8/layout/hChevron3"/>
    <dgm:cxn modelId="{1BBF24B7-1983-3A4A-A3C4-8BF312DFB351}" type="presParOf" srcId="{F7EF29D8-6EF3-3345-A979-3FC24540E800}" destId="{B01E30B0-9DA0-A04F-8A34-F4A0C8A14809}" srcOrd="4" destOrd="0" presId="urn:microsoft.com/office/officeart/2005/8/layout/hChevron3"/>
    <dgm:cxn modelId="{2760FC1D-0E14-3546-B7AB-280B48970FC0}" type="presParOf" srcId="{F7EF29D8-6EF3-3345-A979-3FC24540E800}" destId="{D48A2B27-C32E-574C-84B1-956031F12F1D}" srcOrd="5" destOrd="0" presId="urn:microsoft.com/office/officeart/2005/8/layout/hChevron3"/>
    <dgm:cxn modelId="{8E291CAF-41E7-4944-B464-8D5513EE59CF}" type="presParOf" srcId="{F7EF29D8-6EF3-3345-A979-3FC24540E800}" destId="{810F4C60-C4BB-1F45-98DF-4333F3E89F6D}" srcOrd="6" destOrd="0" presId="urn:microsoft.com/office/officeart/2005/8/layout/hChevron3"/>
    <dgm:cxn modelId="{88B4E9B0-A88D-7E43-8D29-6E4193979EFC}" type="presParOf" srcId="{F7EF29D8-6EF3-3345-A979-3FC24540E800}" destId="{7BB9123A-5720-914A-9B62-33680DB31637}" srcOrd="7" destOrd="0" presId="urn:microsoft.com/office/officeart/2005/8/layout/hChevron3"/>
    <dgm:cxn modelId="{F1A81E3E-EC14-BB44-A717-AD86155E7F64}" type="presParOf" srcId="{F7EF29D8-6EF3-3345-A979-3FC24540E800}" destId="{A8180BA3-652D-4449-BE30-95E1BD52F0D3}" srcOrd="8" destOrd="0" presId="urn:microsoft.com/office/officeart/2005/8/layout/hChevron3"/>
    <dgm:cxn modelId="{978AF6C0-9BC7-B64D-9E69-74EFC379C68E}" type="presParOf" srcId="{F7EF29D8-6EF3-3345-A979-3FC24540E800}" destId="{F07D2843-18ED-9442-A362-6AFA083DC735}" srcOrd="9" destOrd="0" presId="urn:microsoft.com/office/officeart/2005/8/layout/hChevron3"/>
    <dgm:cxn modelId="{CAB16B8C-F582-C243-87A3-444E82A8959B}" type="presParOf" srcId="{F7EF29D8-6EF3-3345-A979-3FC24540E800}" destId="{CC902C0B-5968-FA48-B7DA-3B5C4EE64157}" srcOrd="10" destOrd="0" presId="urn:microsoft.com/office/officeart/2005/8/layout/hChevron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9BAC8078-73CE-452F-9DAD-487B947A5241}" type="doc">
      <dgm:prSet loTypeId="urn:microsoft.com/office/officeart/2005/8/layout/hierarchy1" loCatId="hierarchy" qsTypeId="urn:microsoft.com/office/officeart/2005/8/quickstyle/simple1" qsCatId="simple" csTypeId="urn:microsoft.com/office/officeart/2005/8/colors/colorful5" csCatId="colorful" phldr="1"/>
      <dgm:spPr/>
      <dgm:t>
        <a:bodyPr/>
        <a:lstStyle/>
        <a:p>
          <a:endParaRPr lang="en-US"/>
        </a:p>
      </dgm:t>
    </dgm:pt>
    <dgm:pt modelId="{2ABF6053-0436-4109-9980-4C917EEDCD26}">
      <dgm:prSet custT="1"/>
      <dgm:spPr/>
      <dgm:t>
        <a:bodyPr/>
        <a:lstStyle/>
        <a:p>
          <a:r>
            <a:rPr lang="da-DK" sz="1400" dirty="0"/>
            <a:t>Med udgangspunkt i analyserne fra opgave 3 er der udviklet et interaktivt </a:t>
          </a:r>
          <a:r>
            <a:rPr lang="da-DK" sz="1400" dirty="0" err="1"/>
            <a:t>dashboard</a:t>
          </a:r>
          <a:r>
            <a:rPr lang="da-DK" sz="1400" dirty="0"/>
            <a:t> i </a:t>
          </a:r>
          <a:r>
            <a:rPr lang="da-DK" sz="1400" dirty="0" err="1"/>
            <a:t>Shiny</a:t>
          </a:r>
          <a:r>
            <a:rPr lang="da-DK" sz="1400" dirty="0"/>
            <a:t>. </a:t>
          </a:r>
          <a:endParaRPr lang="en-US" sz="1400" dirty="0"/>
        </a:p>
      </dgm:t>
    </dgm:pt>
    <dgm:pt modelId="{6DF25DE8-5F9D-46C3-B893-2F089BFAD69E}" type="parTrans" cxnId="{2CDC0117-09A8-40A4-9CBD-42ADF1B0D462}">
      <dgm:prSet/>
      <dgm:spPr/>
      <dgm:t>
        <a:bodyPr/>
        <a:lstStyle/>
        <a:p>
          <a:endParaRPr lang="en-US"/>
        </a:p>
      </dgm:t>
    </dgm:pt>
    <dgm:pt modelId="{7FAF1ACD-DD7F-4F3B-87A4-949AD293020C}" type="sibTrans" cxnId="{2CDC0117-09A8-40A4-9CBD-42ADF1B0D462}">
      <dgm:prSet/>
      <dgm:spPr/>
      <dgm:t>
        <a:bodyPr/>
        <a:lstStyle/>
        <a:p>
          <a:endParaRPr lang="en-US"/>
        </a:p>
      </dgm:t>
    </dgm:pt>
    <dgm:pt modelId="{442A17BA-E6FF-4C31-A113-AAC8C1EE68D5}">
      <dgm:prSet custT="1"/>
      <dgm:spPr/>
      <dgm:t>
        <a:bodyPr/>
        <a:lstStyle/>
        <a:p>
          <a:r>
            <a:rPr lang="da-DK" sz="1400" dirty="0"/>
            <a:t>Formålet er at formidle Brøndby IF’s kampprofiler på en måde, der er direkte anvendelig i en fodboldfaglig kontekst. </a:t>
          </a:r>
          <a:endParaRPr lang="en-US" sz="1400" dirty="0"/>
        </a:p>
      </dgm:t>
    </dgm:pt>
    <dgm:pt modelId="{FEFF46BE-C69C-46A9-87FE-E3560E5928F0}" type="parTrans" cxnId="{F42F344C-7F0A-49DC-9A5A-1B92D3A74A8B}">
      <dgm:prSet/>
      <dgm:spPr/>
      <dgm:t>
        <a:bodyPr/>
        <a:lstStyle/>
        <a:p>
          <a:endParaRPr lang="en-US"/>
        </a:p>
      </dgm:t>
    </dgm:pt>
    <dgm:pt modelId="{A363C878-050C-42DD-9948-CD40C37FD0E9}" type="sibTrans" cxnId="{F42F344C-7F0A-49DC-9A5A-1B92D3A74A8B}">
      <dgm:prSet/>
      <dgm:spPr/>
      <dgm:t>
        <a:bodyPr/>
        <a:lstStyle/>
        <a:p>
          <a:endParaRPr lang="en-US"/>
        </a:p>
      </dgm:t>
    </dgm:pt>
    <dgm:pt modelId="{6087C78F-3F0E-4E79-A4D9-0F0DD61BC04A}">
      <dgm:prSet custT="1"/>
      <dgm:spPr/>
      <dgm:t>
        <a:bodyPr/>
        <a:lstStyle/>
        <a:p>
          <a:r>
            <a:rPr lang="da-DK" sz="1400" dirty="0" err="1"/>
            <a:t>Dashboardet</a:t>
          </a:r>
          <a:r>
            <a:rPr lang="da-DK" sz="1400" dirty="0"/>
            <a:t> er målrettet klubbens analyseafdeling og trænerstab. </a:t>
          </a:r>
          <a:endParaRPr lang="en-US" sz="1400" dirty="0"/>
        </a:p>
      </dgm:t>
    </dgm:pt>
    <dgm:pt modelId="{F10990A9-C9A3-409B-8105-82115B13C411}" type="parTrans" cxnId="{E465AA52-5063-4678-A524-306C2BDEE70C}">
      <dgm:prSet/>
      <dgm:spPr/>
      <dgm:t>
        <a:bodyPr/>
        <a:lstStyle/>
        <a:p>
          <a:endParaRPr lang="en-US"/>
        </a:p>
      </dgm:t>
    </dgm:pt>
    <dgm:pt modelId="{B939ACA3-C732-436C-A9B5-E4D5B3A439E9}" type="sibTrans" cxnId="{E465AA52-5063-4678-A524-306C2BDEE70C}">
      <dgm:prSet/>
      <dgm:spPr/>
      <dgm:t>
        <a:bodyPr/>
        <a:lstStyle/>
        <a:p>
          <a:endParaRPr lang="en-US"/>
        </a:p>
      </dgm:t>
    </dgm:pt>
    <dgm:pt modelId="{D2B9B895-8CA9-4E47-AF2C-9FE683CA1F1A}">
      <dgm:prSet custT="1"/>
      <dgm:spPr/>
      <dgm:t>
        <a:bodyPr/>
        <a:lstStyle/>
        <a:p>
          <a:r>
            <a:rPr lang="da-DK" sz="1200" noProof="0" dirty="0"/>
            <a:t>Fokus er på at skabe overblik over forskellige kamptyper i indeværende sæson og gøre det muligt at identificere mønstre i Brøndbys præstationer</a:t>
          </a:r>
        </a:p>
      </dgm:t>
    </dgm:pt>
    <dgm:pt modelId="{3211E0C3-3301-4154-8B17-385D12D1D0D6}" type="parTrans" cxnId="{65A7C01D-FDC3-4C78-9BAA-E0EAFA872A73}">
      <dgm:prSet/>
      <dgm:spPr/>
      <dgm:t>
        <a:bodyPr/>
        <a:lstStyle/>
        <a:p>
          <a:endParaRPr lang="en-US"/>
        </a:p>
      </dgm:t>
    </dgm:pt>
    <dgm:pt modelId="{130FD72E-7A94-4647-9B36-0561F70113B5}" type="sibTrans" cxnId="{65A7C01D-FDC3-4C78-9BAA-E0EAFA872A73}">
      <dgm:prSet/>
      <dgm:spPr/>
      <dgm:t>
        <a:bodyPr/>
        <a:lstStyle/>
        <a:p>
          <a:endParaRPr lang="en-US"/>
        </a:p>
      </dgm:t>
    </dgm:pt>
    <dgm:pt modelId="{F0F1FE85-5B5D-764E-87ED-1D85BF792154}" type="pres">
      <dgm:prSet presAssocID="{9BAC8078-73CE-452F-9DAD-487B947A5241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D07A8D77-7181-364D-B6A1-31AC2C5E25FA}" type="pres">
      <dgm:prSet presAssocID="{2ABF6053-0436-4109-9980-4C917EEDCD26}" presName="hierRoot1" presStyleCnt="0"/>
      <dgm:spPr/>
    </dgm:pt>
    <dgm:pt modelId="{482DB43A-F1F7-384C-A300-932B66EA71D7}" type="pres">
      <dgm:prSet presAssocID="{2ABF6053-0436-4109-9980-4C917EEDCD26}" presName="composite" presStyleCnt="0"/>
      <dgm:spPr/>
    </dgm:pt>
    <dgm:pt modelId="{572600B4-71AB-4F40-9F23-C5240EF7E661}" type="pres">
      <dgm:prSet presAssocID="{2ABF6053-0436-4109-9980-4C917EEDCD26}" presName="background" presStyleLbl="node0" presStyleIdx="0" presStyleCnt="4"/>
      <dgm:spPr/>
    </dgm:pt>
    <dgm:pt modelId="{DA1617BA-2D4D-5A43-98D1-B03D8A960855}" type="pres">
      <dgm:prSet presAssocID="{2ABF6053-0436-4109-9980-4C917EEDCD26}" presName="text" presStyleLbl="fgAcc0" presStyleIdx="0" presStyleCnt="4">
        <dgm:presLayoutVars>
          <dgm:chPref val="3"/>
        </dgm:presLayoutVars>
      </dgm:prSet>
      <dgm:spPr/>
    </dgm:pt>
    <dgm:pt modelId="{38198B2E-2C25-8B45-8CCD-72D543003929}" type="pres">
      <dgm:prSet presAssocID="{2ABF6053-0436-4109-9980-4C917EEDCD26}" presName="hierChild2" presStyleCnt="0"/>
      <dgm:spPr/>
    </dgm:pt>
    <dgm:pt modelId="{937AD181-7386-BB4B-A027-EB3D23B0367E}" type="pres">
      <dgm:prSet presAssocID="{442A17BA-E6FF-4C31-A113-AAC8C1EE68D5}" presName="hierRoot1" presStyleCnt="0"/>
      <dgm:spPr/>
    </dgm:pt>
    <dgm:pt modelId="{85C5AF20-D6BD-8B42-8077-9A2D9C4A53EE}" type="pres">
      <dgm:prSet presAssocID="{442A17BA-E6FF-4C31-A113-AAC8C1EE68D5}" presName="composite" presStyleCnt="0"/>
      <dgm:spPr/>
    </dgm:pt>
    <dgm:pt modelId="{DAAF2835-F6F5-B643-94AC-B0908312EBA5}" type="pres">
      <dgm:prSet presAssocID="{442A17BA-E6FF-4C31-A113-AAC8C1EE68D5}" presName="background" presStyleLbl="node0" presStyleIdx="1" presStyleCnt="4"/>
      <dgm:spPr/>
    </dgm:pt>
    <dgm:pt modelId="{FDFC0767-7AE9-FA44-B78D-FF1FA62BF5DA}" type="pres">
      <dgm:prSet presAssocID="{442A17BA-E6FF-4C31-A113-AAC8C1EE68D5}" presName="text" presStyleLbl="fgAcc0" presStyleIdx="1" presStyleCnt="4">
        <dgm:presLayoutVars>
          <dgm:chPref val="3"/>
        </dgm:presLayoutVars>
      </dgm:prSet>
      <dgm:spPr/>
    </dgm:pt>
    <dgm:pt modelId="{6318A823-1B37-3A45-9230-5A184C605888}" type="pres">
      <dgm:prSet presAssocID="{442A17BA-E6FF-4C31-A113-AAC8C1EE68D5}" presName="hierChild2" presStyleCnt="0"/>
      <dgm:spPr/>
    </dgm:pt>
    <dgm:pt modelId="{8B99BABF-8CDD-5741-AC58-D45A354FE1FF}" type="pres">
      <dgm:prSet presAssocID="{6087C78F-3F0E-4E79-A4D9-0F0DD61BC04A}" presName="hierRoot1" presStyleCnt="0"/>
      <dgm:spPr/>
    </dgm:pt>
    <dgm:pt modelId="{33721C2B-1BA7-D24E-AAF5-C05CA8F5B007}" type="pres">
      <dgm:prSet presAssocID="{6087C78F-3F0E-4E79-A4D9-0F0DD61BC04A}" presName="composite" presStyleCnt="0"/>
      <dgm:spPr/>
    </dgm:pt>
    <dgm:pt modelId="{F4C794AE-D128-4C42-AC2B-C8DFBFF4720A}" type="pres">
      <dgm:prSet presAssocID="{6087C78F-3F0E-4E79-A4D9-0F0DD61BC04A}" presName="background" presStyleLbl="node0" presStyleIdx="2" presStyleCnt="4"/>
      <dgm:spPr/>
    </dgm:pt>
    <dgm:pt modelId="{C1BEDB5D-8A14-B741-9795-18B368D12953}" type="pres">
      <dgm:prSet presAssocID="{6087C78F-3F0E-4E79-A4D9-0F0DD61BC04A}" presName="text" presStyleLbl="fgAcc0" presStyleIdx="2" presStyleCnt="4">
        <dgm:presLayoutVars>
          <dgm:chPref val="3"/>
        </dgm:presLayoutVars>
      </dgm:prSet>
      <dgm:spPr/>
    </dgm:pt>
    <dgm:pt modelId="{D11DDE9E-258A-8E4E-A05B-329836EFCBFD}" type="pres">
      <dgm:prSet presAssocID="{6087C78F-3F0E-4E79-A4D9-0F0DD61BC04A}" presName="hierChild2" presStyleCnt="0"/>
      <dgm:spPr/>
    </dgm:pt>
    <dgm:pt modelId="{85ABF7A7-B8BB-D949-ABD8-20FF286A7E44}" type="pres">
      <dgm:prSet presAssocID="{D2B9B895-8CA9-4E47-AF2C-9FE683CA1F1A}" presName="hierRoot1" presStyleCnt="0"/>
      <dgm:spPr/>
    </dgm:pt>
    <dgm:pt modelId="{B23D64E1-8360-6147-81F2-52C6C7D1289B}" type="pres">
      <dgm:prSet presAssocID="{D2B9B895-8CA9-4E47-AF2C-9FE683CA1F1A}" presName="composite" presStyleCnt="0"/>
      <dgm:spPr/>
    </dgm:pt>
    <dgm:pt modelId="{6BA1DA39-5026-174D-A93B-88C0C9A2E1B0}" type="pres">
      <dgm:prSet presAssocID="{D2B9B895-8CA9-4E47-AF2C-9FE683CA1F1A}" presName="background" presStyleLbl="node0" presStyleIdx="3" presStyleCnt="4"/>
      <dgm:spPr/>
    </dgm:pt>
    <dgm:pt modelId="{7B5675BD-25E4-BB4D-8614-ADD17F05525F}" type="pres">
      <dgm:prSet presAssocID="{D2B9B895-8CA9-4E47-AF2C-9FE683CA1F1A}" presName="text" presStyleLbl="fgAcc0" presStyleIdx="3" presStyleCnt="4">
        <dgm:presLayoutVars>
          <dgm:chPref val="3"/>
        </dgm:presLayoutVars>
      </dgm:prSet>
      <dgm:spPr/>
    </dgm:pt>
    <dgm:pt modelId="{418C396D-E3BC-4B41-AB4E-B5B509D8F45F}" type="pres">
      <dgm:prSet presAssocID="{D2B9B895-8CA9-4E47-AF2C-9FE683CA1F1A}" presName="hierChild2" presStyleCnt="0"/>
      <dgm:spPr/>
    </dgm:pt>
  </dgm:ptLst>
  <dgm:cxnLst>
    <dgm:cxn modelId="{2CDC0117-09A8-40A4-9CBD-42ADF1B0D462}" srcId="{9BAC8078-73CE-452F-9DAD-487B947A5241}" destId="{2ABF6053-0436-4109-9980-4C917EEDCD26}" srcOrd="0" destOrd="0" parTransId="{6DF25DE8-5F9D-46C3-B893-2F089BFAD69E}" sibTransId="{7FAF1ACD-DD7F-4F3B-87A4-949AD293020C}"/>
    <dgm:cxn modelId="{65A7C01D-FDC3-4C78-9BAA-E0EAFA872A73}" srcId="{9BAC8078-73CE-452F-9DAD-487B947A5241}" destId="{D2B9B895-8CA9-4E47-AF2C-9FE683CA1F1A}" srcOrd="3" destOrd="0" parTransId="{3211E0C3-3301-4154-8B17-385D12D1D0D6}" sibTransId="{130FD72E-7A94-4647-9B36-0561F70113B5}"/>
    <dgm:cxn modelId="{D8D4D32E-464F-574C-8D50-8A3764FD4624}" type="presOf" srcId="{2ABF6053-0436-4109-9980-4C917EEDCD26}" destId="{DA1617BA-2D4D-5A43-98D1-B03D8A960855}" srcOrd="0" destOrd="0" presId="urn:microsoft.com/office/officeart/2005/8/layout/hierarchy1"/>
    <dgm:cxn modelId="{AB4E0E44-5643-964D-9A59-CBBFDAB3E229}" type="presOf" srcId="{442A17BA-E6FF-4C31-A113-AAC8C1EE68D5}" destId="{FDFC0767-7AE9-FA44-B78D-FF1FA62BF5DA}" srcOrd="0" destOrd="0" presId="urn:microsoft.com/office/officeart/2005/8/layout/hierarchy1"/>
    <dgm:cxn modelId="{F42F344C-7F0A-49DC-9A5A-1B92D3A74A8B}" srcId="{9BAC8078-73CE-452F-9DAD-487B947A5241}" destId="{442A17BA-E6FF-4C31-A113-AAC8C1EE68D5}" srcOrd="1" destOrd="0" parTransId="{FEFF46BE-C69C-46A9-87FE-E3560E5928F0}" sibTransId="{A363C878-050C-42DD-9948-CD40C37FD0E9}"/>
    <dgm:cxn modelId="{E465AA52-5063-4678-A524-306C2BDEE70C}" srcId="{9BAC8078-73CE-452F-9DAD-487B947A5241}" destId="{6087C78F-3F0E-4E79-A4D9-0F0DD61BC04A}" srcOrd="2" destOrd="0" parTransId="{F10990A9-C9A3-409B-8105-82115B13C411}" sibTransId="{B939ACA3-C732-436C-A9B5-E4D5B3A439E9}"/>
    <dgm:cxn modelId="{3AA98272-B5B7-A04C-912F-315DAD40F920}" type="presOf" srcId="{9BAC8078-73CE-452F-9DAD-487B947A5241}" destId="{F0F1FE85-5B5D-764E-87ED-1D85BF792154}" srcOrd="0" destOrd="0" presId="urn:microsoft.com/office/officeart/2005/8/layout/hierarchy1"/>
    <dgm:cxn modelId="{2124C69B-AE74-794B-930B-018275CEC786}" type="presOf" srcId="{D2B9B895-8CA9-4E47-AF2C-9FE683CA1F1A}" destId="{7B5675BD-25E4-BB4D-8614-ADD17F05525F}" srcOrd="0" destOrd="0" presId="urn:microsoft.com/office/officeart/2005/8/layout/hierarchy1"/>
    <dgm:cxn modelId="{A075D69E-2152-1347-A948-64F7D4FAF112}" type="presOf" srcId="{6087C78F-3F0E-4E79-A4D9-0F0DD61BC04A}" destId="{C1BEDB5D-8A14-B741-9795-18B368D12953}" srcOrd="0" destOrd="0" presId="urn:microsoft.com/office/officeart/2005/8/layout/hierarchy1"/>
    <dgm:cxn modelId="{F83C33B3-D1D3-A343-B3FD-01291FB17654}" type="presParOf" srcId="{F0F1FE85-5B5D-764E-87ED-1D85BF792154}" destId="{D07A8D77-7181-364D-B6A1-31AC2C5E25FA}" srcOrd="0" destOrd="0" presId="urn:microsoft.com/office/officeart/2005/8/layout/hierarchy1"/>
    <dgm:cxn modelId="{840D83E4-6D3F-0044-9697-657472CAA833}" type="presParOf" srcId="{D07A8D77-7181-364D-B6A1-31AC2C5E25FA}" destId="{482DB43A-F1F7-384C-A300-932B66EA71D7}" srcOrd="0" destOrd="0" presId="urn:microsoft.com/office/officeart/2005/8/layout/hierarchy1"/>
    <dgm:cxn modelId="{2C697ABB-188B-244A-B7A2-E4538879879C}" type="presParOf" srcId="{482DB43A-F1F7-384C-A300-932B66EA71D7}" destId="{572600B4-71AB-4F40-9F23-C5240EF7E661}" srcOrd="0" destOrd="0" presId="urn:microsoft.com/office/officeart/2005/8/layout/hierarchy1"/>
    <dgm:cxn modelId="{12B6F496-A722-364F-83FE-65EF77AB5C22}" type="presParOf" srcId="{482DB43A-F1F7-384C-A300-932B66EA71D7}" destId="{DA1617BA-2D4D-5A43-98D1-B03D8A960855}" srcOrd="1" destOrd="0" presId="urn:microsoft.com/office/officeart/2005/8/layout/hierarchy1"/>
    <dgm:cxn modelId="{D8A48FA0-6EBF-B340-BE04-2ED402F58EAD}" type="presParOf" srcId="{D07A8D77-7181-364D-B6A1-31AC2C5E25FA}" destId="{38198B2E-2C25-8B45-8CCD-72D543003929}" srcOrd="1" destOrd="0" presId="urn:microsoft.com/office/officeart/2005/8/layout/hierarchy1"/>
    <dgm:cxn modelId="{517FE9F7-C373-3E47-8FF3-31AED76F53DB}" type="presParOf" srcId="{F0F1FE85-5B5D-764E-87ED-1D85BF792154}" destId="{937AD181-7386-BB4B-A027-EB3D23B0367E}" srcOrd="1" destOrd="0" presId="urn:microsoft.com/office/officeart/2005/8/layout/hierarchy1"/>
    <dgm:cxn modelId="{D9C9CAEA-9C09-844F-A990-E50F03F72861}" type="presParOf" srcId="{937AD181-7386-BB4B-A027-EB3D23B0367E}" destId="{85C5AF20-D6BD-8B42-8077-9A2D9C4A53EE}" srcOrd="0" destOrd="0" presId="urn:microsoft.com/office/officeart/2005/8/layout/hierarchy1"/>
    <dgm:cxn modelId="{FEFDFDCE-C48B-E741-9AA6-57A1426D7421}" type="presParOf" srcId="{85C5AF20-D6BD-8B42-8077-9A2D9C4A53EE}" destId="{DAAF2835-F6F5-B643-94AC-B0908312EBA5}" srcOrd="0" destOrd="0" presId="urn:microsoft.com/office/officeart/2005/8/layout/hierarchy1"/>
    <dgm:cxn modelId="{72E95C28-5BD3-A94F-86FC-8D0D1FD42CE0}" type="presParOf" srcId="{85C5AF20-D6BD-8B42-8077-9A2D9C4A53EE}" destId="{FDFC0767-7AE9-FA44-B78D-FF1FA62BF5DA}" srcOrd="1" destOrd="0" presId="urn:microsoft.com/office/officeart/2005/8/layout/hierarchy1"/>
    <dgm:cxn modelId="{12E1EBE4-6DBA-9243-91F5-AE1F6E3E0481}" type="presParOf" srcId="{937AD181-7386-BB4B-A027-EB3D23B0367E}" destId="{6318A823-1B37-3A45-9230-5A184C605888}" srcOrd="1" destOrd="0" presId="urn:microsoft.com/office/officeart/2005/8/layout/hierarchy1"/>
    <dgm:cxn modelId="{13AA920B-3F2F-FB40-BE06-E4B061AD0D66}" type="presParOf" srcId="{F0F1FE85-5B5D-764E-87ED-1D85BF792154}" destId="{8B99BABF-8CDD-5741-AC58-D45A354FE1FF}" srcOrd="2" destOrd="0" presId="urn:microsoft.com/office/officeart/2005/8/layout/hierarchy1"/>
    <dgm:cxn modelId="{1993981D-1051-E142-B35C-C4E266ACAB18}" type="presParOf" srcId="{8B99BABF-8CDD-5741-AC58-D45A354FE1FF}" destId="{33721C2B-1BA7-D24E-AAF5-C05CA8F5B007}" srcOrd="0" destOrd="0" presId="urn:microsoft.com/office/officeart/2005/8/layout/hierarchy1"/>
    <dgm:cxn modelId="{CCD6BA9A-EA68-A046-A713-E9E1EAF84640}" type="presParOf" srcId="{33721C2B-1BA7-D24E-AAF5-C05CA8F5B007}" destId="{F4C794AE-D128-4C42-AC2B-C8DFBFF4720A}" srcOrd="0" destOrd="0" presId="urn:microsoft.com/office/officeart/2005/8/layout/hierarchy1"/>
    <dgm:cxn modelId="{AEA6473D-21D8-B746-A2DF-0D5EA5D07A13}" type="presParOf" srcId="{33721C2B-1BA7-D24E-AAF5-C05CA8F5B007}" destId="{C1BEDB5D-8A14-B741-9795-18B368D12953}" srcOrd="1" destOrd="0" presId="urn:microsoft.com/office/officeart/2005/8/layout/hierarchy1"/>
    <dgm:cxn modelId="{09B086D9-EBC1-5F49-BCF9-5B6B6160E759}" type="presParOf" srcId="{8B99BABF-8CDD-5741-AC58-D45A354FE1FF}" destId="{D11DDE9E-258A-8E4E-A05B-329836EFCBFD}" srcOrd="1" destOrd="0" presId="urn:microsoft.com/office/officeart/2005/8/layout/hierarchy1"/>
    <dgm:cxn modelId="{EC3DE6D4-2E07-3B44-A8DC-DC32221132DC}" type="presParOf" srcId="{F0F1FE85-5B5D-764E-87ED-1D85BF792154}" destId="{85ABF7A7-B8BB-D949-ABD8-20FF286A7E44}" srcOrd="3" destOrd="0" presId="urn:microsoft.com/office/officeart/2005/8/layout/hierarchy1"/>
    <dgm:cxn modelId="{7A058C3C-6314-BF43-ADFA-BF56F40E2783}" type="presParOf" srcId="{85ABF7A7-B8BB-D949-ABD8-20FF286A7E44}" destId="{B23D64E1-8360-6147-81F2-52C6C7D1289B}" srcOrd="0" destOrd="0" presId="urn:microsoft.com/office/officeart/2005/8/layout/hierarchy1"/>
    <dgm:cxn modelId="{464FF978-C07F-3B4E-8358-74A8194737C5}" type="presParOf" srcId="{B23D64E1-8360-6147-81F2-52C6C7D1289B}" destId="{6BA1DA39-5026-174D-A93B-88C0C9A2E1B0}" srcOrd="0" destOrd="0" presId="urn:microsoft.com/office/officeart/2005/8/layout/hierarchy1"/>
    <dgm:cxn modelId="{0CEC3B35-7D35-994C-ABEB-BB4284431285}" type="presParOf" srcId="{B23D64E1-8360-6147-81F2-52C6C7D1289B}" destId="{7B5675BD-25E4-BB4D-8614-ADD17F05525F}" srcOrd="1" destOrd="0" presId="urn:microsoft.com/office/officeart/2005/8/layout/hierarchy1"/>
    <dgm:cxn modelId="{CD283180-D1E7-D444-8436-1261B7CFE8F6}" type="presParOf" srcId="{85ABF7A7-B8BB-D949-ABD8-20FF286A7E44}" destId="{418C396D-E3BC-4B41-AB4E-B5B509D8F45F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571859D-6658-944C-A33E-DC2C0BA0A5D2}">
      <dsp:nvSpPr>
        <dsp:cNvPr id="0" name=""/>
        <dsp:cNvSpPr/>
      </dsp:nvSpPr>
      <dsp:spPr>
        <a:xfrm>
          <a:off x="1242" y="323149"/>
          <a:ext cx="2035606" cy="814242"/>
        </a:xfrm>
        <a:prstGeom prst="homePlat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5344" tIns="42672" rIns="21336" bIns="42672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a-DK" sz="1600" b="1" kern="1200" dirty="0"/>
            <a:t>Data</a:t>
          </a:r>
          <a:endParaRPr lang="da-DK" sz="1200" b="1" kern="1200" dirty="0"/>
        </a:p>
      </dsp:txBody>
      <dsp:txXfrm>
        <a:off x="1242" y="323149"/>
        <a:ext cx="1832046" cy="814242"/>
      </dsp:txXfrm>
    </dsp:sp>
    <dsp:sp modelId="{207AD47F-F56A-1644-8FA6-FFF042F13970}">
      <dsp:nvSpPr>
        <dsp:cNvPr id="0" name=""/>
        <dsp:cNvSpPr/>
      </dsp:nvSpPr>
      <dsp:spPr>
        <a:xfrm>
          <a:off x="1629727" y="323149"/>
          <a:ext cx="2035606" cy="814242"/>
        </a:xfrm>
        <a:prstGeom prst="chevron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008" tIns="42672" rIns="21336" bIns="42672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a-DK" sz="1600" b="1" kern="1200" dirty="0"/>
            <a:t>Rensning</a:t>
          </a:r>
          <a:endParaRPr lang="da-DK" sz="1200" b="1" kern="1200" dirty="0"/>
        </a:p>
      </dsp:txBody>
      <dsp:txXfrm>
        <a:off x="2036848" y="323149"/>
        <a:ext cx="1221364" cy="814242"/>
      </dsp:txXfrm>
    </dsp:sp>
    <dsp:sp modelId="{B01E30B0-9DA0-A04F-8A34-F4A0C8A14809}">
      <dsp:nvSpPr>
        <dsp:cNvPr id="0" name=""/>
        <dsp:cNvSpPr/>
      </dsp:nvSpPr>
      <dsp:spPr>
        <a:xfrm>
          <a:off x="3258213" y="323149"/>
          <a:ext cx="2035606" cy="814242"/>
        </a:xfrm>
        <a:prstGeom prst="chevron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6007" tIns="37338" rIns="18669" bIns="37338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a-DK" sz="1400" b="1" kern="1200" dirty="0"/>
            <a:t>Standardisering</a:t>
          </a:r>
          <a:endParaRPr lang="da-DK" sz="1200" b="1" kern="1200" dirty="0"/>
        </a:p>
      </dsp:txBody>
      <dsp:txXfrm>
        <a:off x="3665334" y="323149"/>
        <a:ext cx="1221364" cy="814242"/>
      </dsp:txXfrm>
    </dsp:sp>
    <dsp:sp modelId="{810F4C60-C4BB-1F45-98DF-4333F3E89F6D}">
      <dsp:nvSpPr>
        <dsp:cNvPr id="0" name=""/>
        <dsp:cNvSpPr/>
      </dsp:nvSpPr>
      <dsp:spPr>
        <a:xfrm>
          <a:off x="4886698" y="323149"/>
          <a:ext cx="2035606" cy="814242"/>
        </a:xfrm>
        <a:prstGeom prst="chevron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008" tIns="42672" rIns="21336" bIns="42672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a-DK" sz="1600" b="1" kern="1200" dirty="0"/>
            <a:t>Elbow </a:t>
          </a:r>
          <a:r>
            <a:rPr lang="da-DK" sz="1600" b="1" kern="1200" dirty="0" err="1"/>
            <a:t>method</a:t>
          </a:r>
          <a:endParaRPr lang="da-DK" sz="1600" b="1" kern="1200" dirty="0"/>
        </a:p>
      </dsp:txBody>
      <dsp:txXfrm>
        <a:off x="5293819" y="323149"/>
        <a:ext cx="1221364" cy="814242"/>
      </dsp:txXfrm>
    </dsp:sp>
    <dsp:sp modelId="{A8180BA3-652D-4449-BE30-95E1BD52F0D3}">
      <dsp:nvSpPr>
        <dsp:cNvPr id="0" name=""/>
        <dsp:cNvSpPr/>
      </dsp:nvSpPr>
      <dsp:spPr>
        <a:xfrm>
          <a:off x="6515183" y="323149"/>
          <a:ext cx="2035606" cy="814242"/>
        </a:xfrm>
        <a:prstGeom prst="chevron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008" tIns="42672" rIns="21336" bIns="42672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a-DK" sz="1600" b="1" kern="1200" dirty="0"/>
            <a:t>K-</a:t>
          </a:r>
          <a:r>
            <a:rPr lang="da-DK" sz="1600" b="1" kern="1200" dirty="0" err="1"/>
            <a:t>means</a:t>
          </a:r>
          <a:endParaRPr lang="da-DK" sz="1600" b="1" kern="1200" dirty="0"/>
        </a:p>
      </dsp:txBody>
      <dsp:txXfrm>
        <a:off x="6922304" y="323149"/>
        <a:ext cx="1221364" cy="814242"/>
      </dsp:txXfrm>
    </dsp:sp>
    <dsp:sp modelId="{CC902C0B-5968-FA48-B7DA-3B5C4EE64157}">
      <dsp:nvSpPr>
        <dsp:cNvPr id="0" name=""/>
        <dsp:cNvSpPr/>
      </dsp:nvSpPr>
      <dsp:spPr>
        <a:xfrm>
          <a:off x="8143668" y="323149"/>
          <a:ext cx="2035606" cy="814242"/>
        </a:xfrm>
        <a:prstGeom prst="chevron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008" tIns="42672" rIns="21336" bIns="42672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a-DK" sz="1600" b="1" kern="1200" dirty="0"/>
            <a:t>Fortolkning</a:t>
          </a:r>
        </a:p>
      </dsp:txBody>
      <dsp:txXfrm>
        <a:off x="8550789" y="323149"/>
        <a:ext cx="1221364" cy="814242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72600B4-71AB-4F40-9F23-C5240EF7E661}">
      <dsp:nvSpPr>
        <dsp:cNvPr id="0" name=""/>
        <dsp:cNvSpPr/>
      </dsp:nvSpPr>
      <dsp:spPr>
        <a:xfrm>
          <a:off x="2755" y="1299806"/>
          <a:ext cx="1967199" cy="1249171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A1617BA-2D4D-5A43-98D1-B03D8A960855}">
      <dsp:nvSpPr>
        <dsp:cNvPr id="0" name=""/>
        <dsp:cNvSpPr/>
      </dsp:nvSpPr>
      <dsp:spPr>
        <a:xfrm>
          <a:off x="221332" y="1507455"/>
          <a:ext cx="1967199" cy="124917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a-DK" sz="1400" kern="1200" dirty="0"/>
            <a:t>Med udgangspunkt i analyserne fra opgave 3 er der udviklet et interaktivt </a:t>
          </a:r>
          <a:r>
            <a:rPr lang="da-DK" sz="1400" kern="1200" dirty="0" err="1"/>
            <a:t>dashboard</a:t>
          </a:r>
          <a:r>
            <a:rPr lang="da-DK" sz="1400" kern="1200" dirty="0"/>
            <a:t> i </a:t>
          </a:r>
          <a:r>
            <a:rPr lang="da-DK" sz="1400" kern="1200" dirty="0" err="1"/>
            <a:t>Shiny</a:t>
          </a:r>
          <a:r>
            <a:rPr lang="da-DK" sz="1400" kern="1200" dirty="0"/>
            <a:t>. </a:t>
          </a:r>
          <a:endParaRPr lang="en-US" sz="1400" kern="1200" dirty="0"/>
        </a:p>
      </dsp:txBody>
      <dsp:txXfrm>
        <a:off x="257919" y="1544042"/>
        <a:ext cx="1894025" cy="1175997"/>
      </dsp:txXfrm>
    </dsp:sp>
    <dsp:sp modelId="{DAAF2835-F6F5-B643-94AC-B0908312EBA5}">
      <dsp:nvSpPr>
        <dsp:cNvPr id="0" name=""/>
        <dsp:cNvSpPr/>
      </dsp:nvSpPr>
      <dsp:spPr>
        <a:xfrm>
          <a:off x="2407110" y="1299806"/>
          <a:ext cx="1967199" cy="1249171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DFC0767-7AE9-FA44-B78D-FF1FA62BF5DA}">
      <dsp:nvSpPr>
        <dsp:cNvPr id="0" name=""/>
        <dsp:cNvSpPr/>
      </dsp:nvSpPr>
      <dsp:spPr>
        <a:xfrm>
          <a:off x="2625687" y="1507455"/>
          <a:ext cx="1967199" cy="124917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a-DK" sz="1400" kern="1200" dirty="0"/>
            <a:t>Formålet er at formidle Brøndby IF’s kampprofiler på en måde, der er direkte anvendelig i en fodboldfaglig kontekst. </a:t>
          </a:r>
          <a:endParaRPr lang="en-US" sz="1400" kern="1200" dirty="0"/>
        </a:p>
      </dsp:txBody>
      <dsp:txXfrm>
        <a:off x="2662274" y="1544042"/>
        <a:ext cx="1894025" cy="1175997"/>
      </dsp:txXfrm>
    </dsp:sp>
    <dsp:sp modelId="{F4C794AE-D128-4C42-AC2B-C8DFBFF4720A}">
      <dsp:nvSpPr>
        <dsp:cNvPr id="0" name=""/>
        <dsp:cNvSpPr/>
      </dsp:nvSpPr>
      <dsp:spPr>
        <a:xfrm>
          <a:off x="4811464" y="1299806"/>
          <a:ext cx="1967199" cy="1249171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1BEDB5D-8A14-B741-9795-18B368D12953}">
      <dsp:nvSpPr>
        <dsp:cNvPr id="0" name=""/>
        <dsp:cNvSpPr/>
      </dsp:nvSpPr>
      <dsp:spPr>
        <a:xfrm>
          <a:off x="5030042" y="1507455"/>
          <a:ext cx="1967199" cy="124917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a-DK" sz="1400" kern="1200" dirty="0" err="1"/>
            <a:t>Dashboardet</a:t>
          </a:r>
          <a:r>
            <a:rPr lang="da-DK" sz="1400" kern="1200" dirty="0"/>
            <a:t> er målrettet klubbens analyseafdeling og trænerstab. </a:t>
          </a:r>
          <a:endParaRPr lang="en-US" sz="1400" kern="1200" dirty="0"/>
        </a:p>
      </dsp:txBody>
      <dsp:txXfrm>
        <a:off x="5066629" y="1544042"/>
        <a:ext cx="1894025" cy="1175997"/>
      </dsp:txXfrm>
    </dsp:sp>
    <dsp:sp modelId="{6BA1DA39-5026-174D-A93B-88C0C9A2E1B0}">
      <dsp:nvSpPr>
        <dsp:cNvPr id="0" name=""/>
        <dsp:cNvSpPr/>
      </dsp:nvSpPr>
      <dsp:spPr>
        <a:xfrm>
          <a:off x="7215819" y="1299806"/>
          <a:ext cx="1967199" cy="1249171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B5675BD-25E4-BB4D-8614-ADD17F05525F}">
      <dsp:nvSpPr>
        <dsp:cNvPr id="0" name=""/>
        <dsp:cNvSpPr/>
      </dsp:nvSpPr>
      <dsp:spPr>
        <a:xfrm>
          <a:off x="7434397" y="1507455"/>
          <a:ext cx="1967199" cy="124917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a-DK" sz="1200" kern="1200" noProof="0" dirty="0"/>
            <a:t>Fokus er på at skabe overblik over forskellige kamptyper i indeværende sæson og gøre det muligt at identificere mønstre i Brøndbys præstationer</a:t>
          </a:r>
        </a:p>
      </dsp:txBody>
      <dsp:txXfrm>
        <a:off x="7470984" y="1544042"/>
        <a:ext cx="1894025" cy="1175997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Chevron3">
  <dgm:title val=""/>
  <dgm:desc val=""/>
  <dgm:catLst>
    <dgm:cat type="process" pri="10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root des" func="maxDepth" op="gte" val="2">
        <dgm:constrLst>
          <dgm:constr type="w" for="ch" forName="parAndChTx" refType="w"/>
          <dgm:constr type="primFontSz" for="ch" ptType="node" op="equ"/>
          <dgm:constr type="w" for="ch" forName="parAndChSpace" refType="w" refFor="ch" refForName="parAndChTx" fact="-0.2"/>
          <dgm:constr type="w" for="ch" ptType="sibTrans" op="equ"/>
        </dgm:constrLst>
        <dgm:ruleLst/>
        <dgm:forEach name="Name6" axis="ch" ptType="node">
          <dgm:layoutNode name="parAndChTx">
            <dgm:varLst>
              <dgm:bulletEnabled val="1"/>
            </dgm:varLst>
            <dgm:alg type="tx"/>
            <dgm:choose name="Name7">
              <dgm:if name="Name8" func="var" arg="dir" op="equ" val="norm">
                <dgm:choose name="Name9">
                  <dgm:if name="Name10" axis="self" ptType="node" func="pos" op="equ" val="1">
                    <dgm:shape xmlns:r="http://schemas.openxmlformats.org/officeDocument/2006/relationships" type="homePlate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4"/>
                    </dgm:constrLst>
                  </dgm:if>
                  <dgm:else name="Name11">
                    <dgm:shape xmlns:r="http://schemas.openxmlformats.org/officeDocument/2006/relationships" type="chevron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1"/>
                    </dgm:constrLst>
                  </dgm:else>
                </dgm:choose>
              </dgm:if>
              <dgm:else name="Name12">
                <dgm:choose name="Name13">
                  <dgm:if name="Name14" axis="self" ptType="node" func="pos" op="equ" val="1">
                    <dgm:shape xmlns:r="http://schemas.openxmlformats.org/officeDocument/2006/relationships" rot="180" type="homePlate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4"/>
                      <dgm:constr type="rMarg" refType="w" fact="0.1"/>
                    </dgm:constrLst>
                  </dgm:if>
                  <dgm:else name="Name15">
                    <dgm:shape xmlns:r="http://schemas.openxmlformats.org/officeDocument/2006/relationships" rot="180" type="chevron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1"/>
                    </dgm:constrLst>
                  </dgm:else>
                </dgm:choose>
              </dgm:else>
            </dgm:choose>
            <dgm:ruleLst>
              <dgm:rule type="primFontSz" val="5" fact="NaN" max="NaN"/>
            </dgm:ruleLst>
          </dgm:layoutNode>
          <dgm:forEach name="Name16" axis="followSib" ptType="sibTrans" cnt="1">
            <dgm:layoutNode name="parAndCh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17">
        <dgm:constrLst>
          <dgm:constr type="w" for="ch" forName="parTxOnly" refType="w"/>
          <dgm:constr type="primFontSz" for="ch" ptType="node" op="equ"/>
          <dgm:constr type="w" for="ch" forName="parSpace" refType="w" refFor="ch" refForName="parTxOnly" fact="-0.2"/>
          <dgm:constr type="w" for="ch" ptType="sibTrans" op="equ"/>
        </dgm:constrLst>
        <dgm:ruleLst/>
        <dgm:forEach name="Name18" axis="ch" ptType="node">
          <dgm:layoutNode name="parTxOnly">
            <dgm:varLst>
              <dgm:bulletEnabled val="1"/>
            </dgm:varLst>
            <dgm:alg type="tx"/>
            <dgm:presOf axis="desOrSelf" ptType="node"/>
            <dgm:choose name="Name19">
              <dgm:if name="Name20" func="var" arg="dir" op="equ" val="norm">
                <dgm:choose name="Name21">
                  <dgm:if name="Name22" axis="self" ptType="node" func="pos" op="equ" val="1">
                    <dgm:shape xmlns:r="http://schemas.openxmlformats.org/officeDocument/2006/relationships" type="homePlate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42"/>
                      <dgm:constr type="rMarg" refType="primFontSz" fact="0.105"/>
                    </dgm:constrLst>
                  </dgm:if>
                  <dgm:else name="Name23">
                    <dgm:shape xmlns:r="http://schemas.openxmlformats.org/officeDocument/2006/relationships" type="chevron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315"/>
                      <dgm:constr type="rMarg" refType="primFontSz" fact="0.105"/>
                    </dgm:constrLst>
                  </dgm:else>
                </dgm:choose>
              </dgm:if>
              <dgm:else name="Name24">
                <dgm:choose name="Name25">
                  <dgm:if name="Name26" axis="self" ptType="node" func="pos" op="equ" val="1">
                    <dgm:shape xmlns:r="http://schemas.openxmlformats.org/officeDocument/2006/relationships" rot="180" type="homePlate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105"/>
                      <dgm:constr type="rMarg" refType="primFontSz" fact="0.42"/>
                    </dgm:constrLst>
                  </dgm:if>
                  <dgm:else name="Name27">
                    <dgm:shape xmlns:r="http://schemas.openxmlformats.org/officeDocument/2006/relationships" rot="180" type="chevron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105"/>
                      <dgm:constr type="rMarg" refType="primFontSz" fact="0.315"/>
                    </dgm:constrLst>
                  </dgm:else>
                </dgm:choose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idehoved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a-DK"/>
          </a:p>
        </p:txBody>
      </p:sp>
      <p:sp>
        <p:nvSpPr>
          <p:cNvPr id="3" name="Pladsholder til dato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2CC37BE-8EED-DE4F-9EAB-5DFE39303F24}" type="datetimeFigureOut">
              <a:rPr lang="da-DK" smtClean="0"/>
              <a:t>12.04.2026</a:t>
            </a:fld>
            <a:endParaRPr lang="da-DK"/>
          </a:p>
        </p:txBody>
      </p:sp>
      <p:sp>
        <p:nvSpPr>
          <p:cNvPr id="4" name="Pladsholder til slidebille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a-DK"/>
          </a:p>
        </p:txBody>
      </p:sp>
      <p:sp>
        <p:nvSpPr>
          <p:cNvPr id="5" name="Pladsholder til no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6" name="Pladsholder til sidefod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a-DK"/>
          </a:p>
        </p:txBody>
      </p:sp>
      <p:sp>
        <p:nvSpPr>
          <p:cNvPr id="7" name="Pladsholder til slidenumm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626D152-D437-6A4C-BD8B-617BC592CCD5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4771507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lidebille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dsholder til no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a-DK" dirty="0"/>
          </a:p>
        </p:txBody>
      </p:sp>
      <p:sp>
        <p:nvSpPr>
          <p:cNvPr id="4" name="Pladsholder til slide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79BFF79-7FB8-984C-870D-B242599205B1}" type="slidenum">
              <a:rPr lang="da-DK" smtClean="0"/>
              <a:t>10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418139521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007533" y="0"/>
            <a:ext cx="7934348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8941881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11808" y="3428998"/>
            <a:ext cx="5518066" cy="2268559"/>
          </a:xfrm>
        </p:spPr>
        <p:txBody>
          <a:bodyPr anchor="t">
            <a:normAutofit/>
          </a:bodyPr>
          <a:lstStyle>
            <a:lvl1pPr algn="r">
              <a:defRPr sz="6000"/>
            </a:lvl1pPr>
          </a:lstStyle>
          <a:p>
            <a:r>
              <a:rPr lang="da-DK"/>
              <a:t>Klik for at redigere titeltypografien i masteren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772274" y="2268786"/>
            <a:ext cx="5357600" cy="1160213"/>
          </a:xfrm>
        </p:spPr>
        <p:txBody>
          <a:bodyPr tIns="0" anchor="b">
            <a:normAutofit/>
          </a:bodyPr>
          <a:lstStyle>
            <a:lvl1pPr marL="0" indent="0" algn="r">
              <a:buNone/>
              <a:defRPr sz="18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a-DK"/>
              <a:t>Klik for at redigere undertiteltypografien i masteren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761E26-0C6C-7449-9A48-132A3E8C9215}" type="datetimeFigureOut">
              <a:rPr lang="da-DK" smtClean="0"/>
              <a:t>12.04.2026</a:t>
            </a:fld>
            <a:endParaRPr lang="da-D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 rIns="45720"/>
          <a:lstStyle/>
          <a:p>
            <a:fld id="{73524586-4ADB-D545-99DF-0C335D3C2875}" type="slidenum">
              <a:rPr lang="da-DK" smtClean="0"/>
              <a:t>‹nr.›</a:t>
            </a:fld>
            <a:endParaRPr lang="da-DK"/>
          </a:p>
        </p:txBody>
      </p:sp>
      <p:sp>
        <p:nvSpPr>
          <p:cNvPr id="13" name="TextBox 12"/>
          <p:cNvSpPr txBox="1"/>
          <p:nvPr/>
        </p:nvSpPr>
        <p:spPr>
          <a:xfrm>
            <a:off x="2191282" y="3262852"/>
            <a:ext cx="41563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4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24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462294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og indholdsobjek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tangle 28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Klik for at redigere titeltypografien i masteren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761E26-0C6C-7449-9A48-132A3E8C9215}" type="datetimeFigureOut">
              <a:rPr lang="da-DK" smtClean="0"/>
              <a:t>12.04.2026</a:t>
            </a:fld>
            <a:endParaRPr lang="da-D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524586-4ADB-D545-99DF-0C335D3C2875}" type="slidenum">
              <a:rPr lang="da-DK" smtClean="0"/>
              <a:t>‹nr.›</a:t>
            </a:fld>
            <a:endParaRPr lang="da-DK"/>
          </a:p>
        </p:txBody>
      </p:sp>
      <p:sp>
        <p:nvSpPr>
          <p:cNvPr id="7" name="TextBox 6"/>
          <p:cNvSpPr txBox="1"/>
          <p:nvPr/>
        </p:nvSpPr>
        <p:spPr>
          <a:xfrm>
            <a:off x="2194943" y="641225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764311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fsnitsoversk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5" name="Rectangle 24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TextBox 10"/>
          <p:cNvSpPr txBox="1"/>
          <p:nvPr/>
        </p:nvSpPr>
        <p:spPr>
          <a:xfrm>
            <a:off x="2191843" y="2962586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09873" y="3147254"/>
            <a:ext cx="7956560" cy="1424746"/>
          </a:xfrm>
        </p:spPr>
        <p:txBody>
          <a:bodyPr anchor="t">
            <a:normAutofit/>
          </a:bodyPr>
          <a:lstStyle>
            <a:lvl1pPr algn="r">
              <a:defRPr sz="3200"/>
            </a:lvl1pPr>
          </a:lstStyle>
          <a:p>
            <a:r>
              <a:rPr lang="da-DK"/>
              <a:t>Klik for at redigere titeltypografien i masteren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773968" y="2268786"/>
            <a:ext cx="7791931" cy="878468"/>
          </a:xfrm>
        </p:spPr>
        <p:txBody>
          <a:bodyPr tIns="0" anchor="b">
            <a:norm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761E26-0C6C-7449-9A48-132A3E8C9215}" type="datetimeFigureOut">
              <a:rPr lang="da-DK" smtClean="0"/>
              <a:t>12.04.2026</a:t>
            </a:fld>
            <a:endParaRPr lang="da-D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524586-4ADB-D545-99DF-0C335D3C2875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5283296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o indholdsobjek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7" name="Rectangle 26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09873" y="805817"/>
            <a:ext cx="7950984" cy="1081705"/>
          </a:xfrm>
        </p:spPr>
        <p:txBody>
          <a:bodyPr/>
          <a:lstStyle/>
          <a:p>
            <a:r>
              <a:rPr lang="da-DK"/>
              <a:t>Klik for at redigere titeltypografien i masteren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605374" y="2052116"/>
            <a:ext cx="3891960" cy="3997828"/>
          </a:xfrm>
        </p:spPr>
        <p:txBody>
          <a:bodyPr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66636" y="2052114"/>
            <a:ext cx="3894222" cy="3997829"/>
          </a:xfrm>
        </p:spPr>
        <p:txBody>
          <a:bodyPr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761E26-0C6C-7449-9A48-132A3E8C9215}" type="datetimeFigureOut">
              <a:rPr lang="da-DK" smtClean="0"/>
              <a:t>12.04.2026</a:t>
            </a:fld>
            <a:endParaRPr lang="da-D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524586-4ADB-D545-99DF-0C335D3C2875}" type="slidenum">
              <a:rPr lang="da-DK" smtClean="0"/>
              <a:t>‹nr.›</a:t>
            </a:fld>
            <a:endParaRPr lang="da-DK"/>
          </a:p>
        </p:txBody>
      </p:sp>
      <p:sp>
        <p:nvSpPr>
          <p:cNvPr id="10" name="TextBox 9"/>
          <p:cNvSpPr txBox="1"/>
          <p:nvPr/>
        </p:nvSpPr>
        <p:spPr>
          <a:xfrm>
            <a:off x="2196172" y="641223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341362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Sammenlign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1" name="Rectangle 20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2" name="TextBox 11"/>
          <p:cNvSpPr txBox="1"/>
          <p:nvPr/>
        </p:nvSpPr>
        <p:spPr>
          <a:xfrm>
            <a:off x="2193650" y="636424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09873" y="805818"/>
            <a:ext cx="7956560" cy="1078348"/>
          </a:xfrm>
        </p:spPr>
        <p:txBody>
          <a:bodyPr/>
          <a:lstStyle/>
          <a:p>
            <a:r>
              <a:rPr lang="da-DK"/>
              <a:t>Klik for at redigere titeltypografien i masteren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09285" y="2052115"/>
            <a:ext cx="3896467" cy="713818"/>
          </a:xfr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2200" b="0" cap="none" baseline="0">
                <a:solidFill>
                  <a:schemeClr val="accent6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609285" y="2851331"/>
            <a:ext cx="3893623" cy="3071434"/>
          </a:xfrm>
        </p:spPr>
        <p:txBody>
          <a:bodyPr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666634" y="2052115"/>
            <a:ext cx="3899798" cy="713818"/>
          </a:xfr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2200" b="0" cap="none" baseline="0">
                <a:solidFill>
                  <a:schemeClr val="accent6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66635" y="2851331"/>
            <a:ext cx="3899798" cy="3071434"/>
          </a:xfrm>
        </p:spPr>
        <p:txBody>
          <a:bodyPr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761E26-0C6C-7449-9A48-132A3E8C9215}" type="datetimeFigureOut">
              <a:rPr lang="da-DK" smtClean="0"/>
              <a:t>12.04.2026</a:t>
            </a:fld>
            <a:endParaRPr lang="da-DK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524586-4ADB-D545-99DF-0C335D3C2875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788486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Ku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4" name="Rectangle 13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Klik for at redigere titeltypografien i masteren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761E26-0C6C-7449-9A48-132A3E8C9215}" type="datetimeFigureOut">
              <a:rPr lang="da-DK" smtClean="0"/>
              <a:t>12.04.2026</a:t>
            </a:fld>
            <a:endParaRPr lang="da-DK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524586-4ADB-D545-99DF-0C335D3C2875}" type="slidenum">
              <a:rPr lang="da-DK" smtClean="0"/>
              <a:t>‹nr.›</a:t>
            </a:fld>
            <a:endParaRPr lang="da-DK"/>
          </a:p>
        </p:txBody>
      </p:sp>
      <p:sp>
        <p:nvSpPr>
          <p:cNvPr id="8" name="TextBox 7"/>
          <p:cNvSpPr txBox="1"/>
          <p:nvPr/>
        </p:nvSpPr>
        <p:spPr>
          <a:xfrm>
            <a:off x="2196172" y="641226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752556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3" name="Rectangle 12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761E26-0C6C-7449-9A48-132A3E8C9215}" type="datetimeFigureOut">
              <a:rPr lang="da-DK" smtClean="0"/>
              <a:t>12.04.2026</a:t>
            </a:fld>
            <a:endParaRPr lang="da-DK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524586-4ADB-D545-99DF-0C335D3C2875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2038524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dhold med billed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6" name="Rectangle 25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TextBox 9"/>
          <p:cNvSpPr txBox="1"/>
          <p:nvPr/>
        </p:nvSpPr>
        <p:spPr>
          <a:xfrm>
            <a:off x="1554154" y="1127550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70323" y="1282451"/>
            <a:ext cx="2664361" cy="1903241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da-DK"/>
              <a:t>Klik for at redigere titeltypografien i masteren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20154" y="805818"/>
            <a:ext cx="5446278" cy="5244126"/>
          </a:xfrm>
        </p:spPr>
        <p:txBody>
          <a:bodyPr anchor="ctr"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70322" y="3186154"/>
            <a:ext cx="2664361" cy="2386397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761E26-0C6C-7449-9A48-132A3E8C9215}" type="datetimeFigureOut">
              <a:rPr lang="da-DK" smtClean="0"/>
              <a:t>12.04.2026</a:t>
            </a:fld>
            <a:endParaRPr lang="da-D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524586-4ADB-D545-99DF-0C335D3C2875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740759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lede med billed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0" name="Rectangle 19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47062" y="3229"/>
            <a:ext cx="4629734" cy="6858000"/>
          </a:xfrm>
          <a:solidFill>
            <a:schemeClr val="tx1">
              <a:alpha val="10000"/>
            </a:schemeClr>
          </a:solidFill>
          <a:ln w="9525" cap="sq">
            <a:noFill/>
            <a:miter lim="800000"/>
          </a:ln>
          <a:effectLst/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2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da-DK"/>
              <a:t>Klik på ikonet for at tilføje et billede</a:t>
            </a:r>
            <a:endParaRPr 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1554686" y="1127550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71241" y="1282452"/>
            <a:ext cx="3970986" cy="1900473"/>
          </a:xfrm>
        </p:spPr>
        <p:txBody>
          <a:bodyPr anchor="b">
            <a:normAutofit/>
          </a:bodyPr>
          <a:lstStyle>
            <a:lvl1pPr algn="l">
              <a:defRPr sz="3200"/>
            </a:lvl1pPr>
          </a:lstStyle>
          <a:p>
            <a:r>
              <a:rPr lang="da-DK"/>
              <a:t>Klik for at redigere titeltypografien i masteren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70322" y="3182928"/>
            <a:ext cx="3971874" cy="2386394"/>
          </a:xfrm>
        </p:spPr>
        <p:txBody>
          <a:bodyPr>
            <a:normAutofit/>
          </a:bodyPr>
          <a:lstStyle>
            <a:lvl1pPr marL="0" indent="0" algn="l"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761E26-0C6C-7449-9A48-132A3E8C9215}" type="datetimeFigureOut">
              <a:rPr lang="da-DK" smtClean="0"/>
              <a:t>12.04.2026</a:t>
            </a:fld>
            <a:endParaRPr lang="da-D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524586-4ADB-D545-99DF-0C335D3C2875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8366660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og lodret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Rectangle 14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TextBox 8"/>
          <p:cNvSpPr txBox="1"/>
          <p:nvPr/>
        </p:nvSpPr>
        <p:spPr>
          <a:xfrm>
            <a:off x="2194236" y="641225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11808" y="808056"/>
            <a:ext cx="7954091" cy="1077229"/>
          </a:xfrm>
        </p:spPr>
        <p:txBody>
          <a:bodyPr/>
          <a:lstStyle/>
          <a:p>
            <a:r>
              <a:rPr lang="da-DK"/>
              <a:t>Klik for at redigere titeltypografien i masteren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761E26-0C6C-7449-9A48-132A3E8C9215}" type="datetimeFigureOut">
              <a:rPr lang="da-DK" smtClean="0"/>
              <a:t>12.04.2026</a:t>
            </a:fld>
            <a:endParaRPr lang="da-D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524586-4ADB-D545-99DF-0C335D3C2875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8145964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Lodret titel og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" name="Rectangle 15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TextBox 8"/>
          <p:cNvSpPr txBox="1"/>
          <p:nvPr/>
        </p:nvSpPr>
        <p:spPr>
          <a:xfrm rot="5400000">
            <a:off x="10337141" y="416061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39380" y="805818"/>
            <a:ext cx="1326519" cy="5244126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da-DK"/>
              <a:t>Klik for at redigere titeltypografien i masteren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608751" y="970410"/>
            <a:ext cx="6466903" cy="5079534"/>
          </a:xfrm>
        </p:spPr>
        <p:txBody>
          <a:bodyPr vert="eaVert"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761E26-0C6C-7449-9A48-132A3E8C9215}" type="datetimeFigureOut">
              <a:rPr lang="da-DK" smtClean="0"/>
              <a:t>12.04.2026</a:t>
            </a:fld>
            <a:endParaRPr lang="da-D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524586-4ADB-D545-99DF-0C335D3C2875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0703589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3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17"/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31794" y="2105202"/>
            <a:ext cx="9360205" cy="4752798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9867" cy="685800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0" y="0"/>
            <a:ext cx="964174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611808" y="808056"/>
            <a:ext cx="7958331" cy="107722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da-DK"/>
              <a:t>Klik for at redigere titeltypografien i masteren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773599" y="2052116"/>
            <a:ext cx="7796540" cy="39978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-810065" y="5270604"/>
            <a:ext cx="2662729" cy="182880"/>
          </a:xfrm>
          <a:prstGeom prst="rect">
            <a:avLst/>
          </a:prstGeom>
        </p:spPr>
        <p:txBody>
          <a:bodyPr vert="horz" lIns="91440" tIns="18288" rIns="91440" bIns="45720" rtlCol="0" anchor="t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fld id="{05761E26-0C6C-7449-9A48-132A3E8C9215}" type="datetimeFigureOut">
              <a:rPr lang="da-DK" smtClean="0"/>
              <a:t>12.04.2026</a:t>
            </a:fld>
            <a:endParaRPr lang="da-D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-2237130" y="3661144"/>
            <a:ext cx="5885352" cy="179176"/>
          </a:xfrm>
          <a:prstGeom prst="rect">
            <a:avLst/>
          </a:prstGeom>
        </p:spPr>
        <p:txBody>
          <a:bodyPr vert="horz" lIns="91440" tIns="45720" rIns="91440" bIns="18288" rtlCol="0" anchor="b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da-D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58407" y="164592"/>
            <a:ext cx="636727" cy="322851"/>
          </a:xfrm>
          <a:prstGeom prst="rect">
            <a:avLst/>
          </a:prstGeom>
        </p:spPr>
        <p:txBody>
          <a:bodyPr vert="horz" lIns="91440" tIns="45720" rIns="45720" bIns="45720" rtlCol="0" anchor="ctr"/>
          <a:lstStyle>
            <a:lvl1pPr algn="r">
              <a:defRPr sz="1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3524586-4ADB-D545-99DF-0C335D3C2875}" type="slidenum">
              <a:rPr lang="da-DK" smtClean="0"/>
              <a:t>‹nr.›</a:t>
            </a:fld>
            <a:endParaRPr lang="da-DK"/>
          </a:p>
        </p:txBody>
      </p:sp>
      <p:sp>
        <p:nvSpPr>
          <p:cNvPr id="57" name="Rectangle 56"/>
          <p:cNvSpPr/>
          <p:nvPr/>
        </p:nvSpPr>
        <p:spPr>
          <a:xfrm>
            <a:off x="962042" y="0"/>
            <a:ext cx="45719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1170380861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66" r:id="rId1"/>
    <p:sldLayoutId id="2147483767" r:id="rId2"/>
    <p:sldLayoutId id="2147483768" r:id="rId3"/>
    <p:sldLayoutId id="2147483769" r:id="rId4"/>
    <p:sldLayoutId id="2147483770" r:id="rId5"/>
    <p:sldLayoutId id="2147483771" r:id="rId6"/>
    <p:sldLayoutId id="2147483772" r:id="rId7"/>
    <p:sldLayoutId id="2147483773" r:id="rId8"/>
    <p:sldLayoutId id="2147483774" r:id="rId9"/>
    <p:sldLayoutId id="2147483775" r:id="rId10"/>
    <p:sldLayoutId id="2147483776" r:id="rId11"/>
  </p:sldLayoutIdLst>
  <p:txStyles>
    <p:titleStyle>
      <a:lvl1pPr algn="r" defTabSz="914400" rtl="0" eaLnBrk="1" latinLnBrk="0" hangingPunct="1">
        <a:lnSpc>
          <a:spcPct val="90000"/>
        </a:lnSpc>
        <a:spcBef>
          <a:spcPct val="0"/>
        </a:spcBef>
        <a:buNone/>
        <a:defRPr sz="3400" b="0" i="0" kern="1200" cap="none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344488" indent="-344488" algn="l" defTabSz="914400" rtl="0" eaLnBrk="1" latinLnBrk="0" hangingPunct="1">
        <a:lnSpc>
          <a:spcPct val="120000"/>
        </a:lnSpc>
        <a:spcBef>
          <a:spcPts val="10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95338" indent="-33813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800" kern="120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58888" indent="-34448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709738" indent="-33813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400" kern="120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173288" indent="-33832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642616" indent="-33832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3108960" indent="-33832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575304" indent="-33832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4041648" indent="-33832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jpe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4F18B6E7-E46E-4BEB-8693-691673AA58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9867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2" descr="Brøndby - Seattle Sounders 2-0: Hvad lærte vi af fredagens sejr?">
            <a:extLst>
              <a:ext uri="{FF2B5EF4-FFF2-40B4-BE49-F238E27FC236}">
                <a16:creationId xmlns:a16="http://schemas.microsoft.com/office/drawing/2014/main" id="{6A0F4C6A-8138-1F8D-EF7C-113161FE2A2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duotone>
              <a:schemeClr val="accent1">
                <a:shade val="45000"/>
                <a:satMod val="135000"/>
              </a:schemeClr>
              <a:prstClr val="white"/>
            </a:duotone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36"/>
          <a:stretch>
            <a:fillRect/>
          </a:stretch>
        </p:blipFill>
        <p:spPr bwMode="auto">
          <a:xfrm>
            <a:off x="-1808" y="10"/>
            <a:ext cx="12191675" cy="6857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744AC4D1-27E1-4BE2-A5AC-BBE6CC0F66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31795" y="2105202"/>
            <a:ext cx="9360205" cy="4752798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76E98EA8-6944-48D9-B8BF-6305BAB9D5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5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9867" cy="6858000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9B5BD72C-3F16-44E8-B666-5A3572EEAA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64174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59B2B2C6-931D-4130-8D44-388723C5F8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62042" y="0"/>
            <a:ext cx="45719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CEE2B0E2-749E-44CF-B2EF-8740B6B501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07534" y="0"/>
            <a:ext cx="4428326" cy="6858000"/>
          </a:xfrm>
          <a:prstGeom prst="rect">
            <a:avLst/>
          </a:prstGeom>
          <a:solidFill>
            <a:schemeClr val="bg2">
              <a:alpha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7C766C37-C226-8204-75D9-B2BC732F4EC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62042" y="3428998"/>
            <a:ext cx="4162976" cy="2268559"/>
          </a:xfrm>
        </p:spPr>
        <p:txBody>
          <a:bodyPr>
            <a:normAutofit/>
          </a:bodyPr>
          <a:lstStyle/>
          <a:p>
            <a:r>
              <a:rPr lang="da-DK" sz="3200" dirty="0"/>
              <a:t>Opgave 3.2 og 4.2</a:t>
            </a:r>
          </a:p>
        </p:txBody>
      </p:sp>
      <p:sp>
        <p:nvSpPr>
          <p:cNvPr id="3" name="Undertitel 2">
            <a:extLst>
              <a:ext uri="{FF2B5EF4-FFF2-40B4-BE49-F238E27FC236}">
                <a16:creationId xmlns:a16="http://schemas.microsoft.com/office/drawing/2014/main" id="{875917B7-89E2-FC1E-8724-D58E22918E9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609621" y="3545112"/>
            <a:ext cx="3134729" cy="1160213"/>
          </a:xfrm>
        </p:spPr>
        <p:txBody>
          <a:bodyPr>
            <a:normAutofit/>
          </a:bodyPr>
          <a:lstStyle/>
          <a:p>
            <a:r>
              <a:rPr lang="da-DK" sz="1600" dirty="0"/>
              <a:t>Lavet af Benjamin, Kalle, Mehdi og Umar 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E04A155B-01F4-4C31-8032-D727D2C974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433384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94477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78F29F1-5B7B-898C-C350-388F4EED33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Opgave 3.2 - Kampe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92F300B6-A66B-C0C5-6A94-A12D2BEED4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603500"/>
            <a:ext cx="10224246" cy="3416300"/>
          </a:xfrm>
        </p:spPr>
        <p:txBody>
          <a:bodyPr>
            <a:normAutofit/>
          </a:bodyPr>
          <a:lstStyle/>
          <a:p>
            <a:r>
              <a:rPr lang="da-DK" sz="2800" dirty="0"/>
              <a:t>Lav en Clustering model af kampe i indeværende sæson for hvert hold - altså to rækker pr kamp. I bestemmer selv antallet af clustre. Hvad kendetegner jeres clustre som modellen valgt at opdele kampene? (Hint: sæt en sigende overskrift på hvert af jeres clustre – husk det skal give Brøndby IF et overblik)</a:t>
            </a:r>
          </a:p>
        </p:txBody>
      </p:sp>
    </p:spTree>
    <p:extLst>
      <p:ext uri="{BB962C8B-B14F-4D97-AF65-F5344CB8AC3E}">
        <p14:creationId xmlns:p14="http://schemas.microsoft.com/office/powerpoint/2010/main" val="19678061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103" name="Rectangle 4102">
            <a:extLst>
              <a:ext uri="{FF2B5EF4-FFF2-40B4-BE49-F238E27FC236}">
                <a16:creationId xmlns:a16="http://schemas.microsoft.com/office/drawing/2014/main" id="{E580B68A-9FCD-4218-B1AC-274CE9C977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9867" cy="685528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105" name="Picture 4104">
            <a:extLst>
              <a:ext uri="{FF2B5EF4-FFF2-40B4-BE49-F238E27FC236}">
                <a16:creationId xmlns:a16="http://schemas.microsoft.com/office/drawing/2014/main" id="{36F8BB7F-0DBC-44A5-B641-5AFE32F963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31794" y="2105202"/>
            <a:ext cx="9360205" cy="4752798"/>
          </a:xfrm>
          <a:prstGeom prst="rect">
            <a:avLst/>
          </a:prstGeom>
        </p:spPr>
      </p:pic>
      <p:pic>
        <p:nvPicPr>
          <p:cNvPr id="4107" name="Picture 4106">
            <a:extLst>
              <a:ext uri="{FF2B5EF4-FFF2-40B4-BE49-F238E27FC236}">
                <a16:creationId xmlns:a16="http://schemas.microsoft.com/office/drawing/2014/main" id="{9C8E5C40-98AF-420F-9EA7-57039B1574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4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9867" cy="6858000"/>
          </a:xfrm>
          <a:prstGeom prst="rect">
            <a:avLst/>
          </a:prstGeom>
        </p:spPr>
      </p:pic>
      <p:sp>
        <p:nvSpPr>
          <p:cNvPr id="4109" name="Rectangle 4108">
            <a:extLst>
              <a:ext uri="{FF2B5EF4-FFF2-40B4-BE49-F238E27FC236}">
                <a16:creationId xmlns:a16="http://schemas.microsoft.com/office/drawing/2014/main" id="{5DAF3C90-D309-48B6-AB0F-74AE104890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64174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11" name="Rectangle 4110">
            <a:extLst>
              <a:ext uri="{FF2B5EF4-FFF2-40B4-BE49-F238E27FC236}">
                <a16:creationId xmlns:a16="http://schemas.microsoft.com/office/drawing/2014/main" id="{8BC38C68-7998-47D2-ACFB-7354EAF3E3D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62042" y="0"/>
            <a:ext cx="45719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13" name="Rectangle 4112">
            <a:extLst>
              <a:ext uri="{FF2B5EF4-FFF2-40B4-BE49-F238E27FC236}">
                <a16:creationId xmlns:a16="http://schemas.microsoft.com/office/drawing/2014/main" id="{865C8DCD-2B88-41ED-8B63-9122BB6F5C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07533" y="0"/>
            <a:ext cx="10378001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7D49C323-8F60-16B7-64AB-6634765C22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64444" y="808056"/>
            <a:ext cx="3319381" cy="1077229"/>
          </a:xfrm>
        </p:spPr>
        <p:txBody>
          <a:bodyPr>
            <a:normAutofit/>
          </a:bodyPr>
          <a:lstStyle/>
          <a:p>
            <a:pPr algn="l"/>
            <a:r>
              <a:rPr lang="da-DK" dirty="0"/>
              <a:t>Hvad vil vi undersøge?</a:t>
            </a:r>
            <a:endParaRPr lang="da-DK"/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B672E4CA-67D3-4205-41E4-FB0F0CAA6C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64444" y="2052116"/>
            <a:ext cx="3319381" cy="3997828"/>
          </a:xfrm>
        </p:spPr>
        <p:txBody>
          <a:bodyPr>
            <a:normAutofit/>
          </a:bodyPr>
          <a:lstStyle/>
          <a:p>
            <a:r>
              <a:rPr lang="da-DK" sz="1800"/>
              <a:t>Vi vil identificere </a:t>
            </a:r>
            <a:r>
              <a:rPr lang="da-DK" sz="1800" b="1"/>
              <a:t>forskellige kampprofiler</a:t>
            </a:r>
            <a:r>
              <a:rPr lang="da-DK" sz="1800"/>
              <a:t> i den indeværende sæson.</a:t>
            </a:r>
          </a:p>
          <a:p>
            <a:r>
              <a:rPr lang="da-DK" sz="1800"/>
              <a:t>Analysen skal give Brøndby IF et </a:t>
            </a:r>
            <a:r>
              <a:rPr lang="da-DK" sz="1800" b="1"/>
              <a:t>hurtigt og fortolkeligt overblik</a:t>
            </a:r>
            <a:r>
              <a:rPr lang="da-DK" sz="1800"/>
              <a:t> over, hvilke typer kampe holdet spiller.</a:t>
            </a:r>
          </a:p>
        </p:txBody>
      </p:sp>
      <p:pic>
        <p:nvPicPr>
          <p:cNvPr id="4098" name="Picture 2" descr="BIF-FCM_(1-0)">
            <a:extLst>
              <a:ext uri="{FF2B5EF4-FFF2-40B4-BE49-F238E27FC236}">
                <a16:creationId xmlns:a16="http://schemas.microsoft.com/office/drawing/2014/main" id="{3DF9D1AC-B5DD-ED13-49D8-B9EA15426B5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6624"/>
          <a:stretch>
            <a:fillRect/>
          </a:stretch>
        </p:blipFill>
        <p:spPr bwMode="auto">
          <a:xfrm>
            <a:off x="6094933" y="12863"/>
            <a:ext cx="5288377" cy="6858000"/>
          </a:xfrm>
          <a:prstGeom prst="rect">
            <a:avLst/>
          </a:prstGeom>
          <a:noFill/>
          <a:ln w="12700"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115" name="Rectangle 4114">
            <a:extLst>
              <a:ext uri="{FF2B5EF4-FFF2-40B4-BE49-F238E27FC236}">
                <a16:creationId xmlns:a16="http://schemas.microsoft.com/office/drawing/2014/main" id="{BB4A66AB-0B35-4E2E-AE78-EA6F40F5AC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382586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520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FF3B348-1270-951A-A6E8-A42B345B6C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Datagrundlag og udvalgte variable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E822BC43-69DE-3A93-7387-5C5EEBBD70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a-DK" dirty="0"/>
              <a:t>Data er hentet fra </a:t>
            </a:r>
            <a:r>
              <a:rPr lang="da-DK" b="1" dirty="0" err="1"/>
              <a:t>Wyscouts</a:t>
            </a:r>
            <a:r>
              <a:rPr lang="da-DK" b="1" dirty="0"/>
              <a:t> </a:t>
            </a:r>
            <a:r>
              <a:rPr lang="da-DK" b="1" dirty="0" err="1"/>
              <a:t>advanced</a:t>
            </a:r>
            <a:r>
              <a:rPr lang="da-DK" b="1" dirty="0"/>
              <a:t> match stats</a:t>
            </a:r>
            <a:r>
              <a:rPr lang="da-DK" dirty="0"/>
              <a:t> for indeværende sæson.</a:t>
            </a:r>
          </a:p>
          <a:p>
            <a:r>
              <a:rPr lang="da-DK" dirty="0"/>
              <a:t>Der er anvendt kampdata på </a:t>
            </a:r>
            <a:r>
              <a:rPr lang="da-DK" b="1" dirty="0"/>
              <a:t>holdniveau</a:t>
            </a:r>
            <a:r>
              <a:rPr lang="da-DK" dirty="0"/>
              <a:t>.</a:t>
            </a:r>
          </a:p>
          <a:p>
            <a:r>
              <a:rPr lang="da-DK" dirty="0"/>
              <a:t>Datasættet er renset for dubletter, så hver kamp kun indgår én gang pr. hold.</a:t>
            </a:r>
          </a:p>
          <a:p>
            <a:r>
              <a:rPr lang="da-DK" dirty="0"/>
              <a:t>Derudover er modstanderinformation koblet på, så kampene kan analyseres i relation til modstanderen. </a:t>
            </a:r>
          </a:p>
          <a:p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2071147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7EEB7D8-80E9-8C42-4CB5-A994227417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Variabler til </a:t>
            </a:r>
            <a:r>
              <a:rPr lang="da-DK" dirty="0" err="1"/>
              <a:t>clustering</a:t>
            </a:r>
            <a:endParaRPr lang="da-DK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7071FE14-7FFC-1B3E-B099-0491493888C7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154953" y="2326492"/>
            <a:ext cx="4505067" cy="39703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da-DK" altLang="da-DK" b="1" dirty="0"/>
              <a:t>Følgende variabler indgår i cluster modellen:</a:t>
            </a: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da-DK" altLang="da-DK" dirty="0"/>
              <a:t>Antal skud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da-DK" altLang="da-DK" dirty="0"/>
              <a:t>Frispark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da-DK" altLang="da-DK" dirty="0"/>
              <a:t>Hjørnespark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da-DK" altLang="da-DK" dirty="0"/>
              <a:t>Røde og gule kort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da-DK" altLang="da-DK" dirty="0"/>
              <a:t>Offsides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da-DK" altLang="da-DK" dirty="0"/>
              <a:t>Driblinger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da-DK" altLang="da-DK" dirty="0"/>
              <a:t>Mål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da-DK" altLang="da-DK" dirty="0"/>
              <a:t>Gennemsnitlig afslutningsafstand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da-DK" altLang="da-DK" dirty="0" err="1"/>
              <a:t>xG</a:t>
            </a:r>
            <a:r>
              <a:rPr lang="da-DK" altLang="da-DK" dirty="0"/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da-DK" altLang="da-DK" dirty="0"/>
              <a:t>Progressive løb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da-DK" altLang="da-DK" dirty="0"/>
              <a:t>Berøringer i feltet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da-DK" altLang="da-DK" dirty="0"/>
              <a:t>Frikick og indkast</a:t>
            </a:r>
          </a:p>
        </p:txBody>
      </p:sp>
      <p:sp>
        <p:nvSpPr>
          <p:cNvPr id="5" name="Tekstfelt 4">
            <a:extLst>
              <a:ext uri="{FF2B5EF4-FFF2-40B4-BE49-F238E27FC236}">
                <a16:creationId xmlns:a16="http://schemas.microsoft.com/office/drawing/2014/main" id="{8D834273-9D54-4A24-FEE3-7DD09DD91F6D}"/>
              </a:ext>
            </a:extLst>
          </p:cNvPr>
          <p:cNvSpPr txBox="1"/>
          <p:nvPr/>
        </p:nvSpPr>
        <p:spPr>
          <a:xfrm>
            <a:off x="6531982" y="2314898"/>
            <a:ext cx="425948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a-DK" b="1" dirty="0"/>
              <a:t>Fælles for variablene: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a-DK" dirty="0"/>
              <a:t>De beskriver især </a:t>
            </a:r>
            <a:r>
              <a:rPr lang="da-DK" b="1" dirty="0"/>
              <a:t>offensiv aktivitet</a:t>
            </a:r>
            <a:r>
              <a:rPr lang="da-DK" dirty="0"/>
              <a:t>, tempo og kampens generelle karakter.</a:t>
            </a:r>
          </a:p>
        </p:txBody>
      </p:sp>
    </p:spTree>
    <p:extLst>
      <p:ext uri="{BB962C8B-B14F-4D97-AF65-F5344CB8AC3E}">
        <p14:creationId xmlns:p14="http://schemas.microsoft.com/office/powerpoint/2010/main" val="84530800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CDE7A99-705F-1149-4B5D-62AF1AEFCA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Metode – Hvordan blev modellen bygget?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5DBDC047-C636-8238-2744-F8790575DCFE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154954" y="1357803"/>
            <a:ext cx="4944903" cy="42026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indent="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lang="da-DK" altLang="da-DK" sz="1800" dirty="0"/>
          </a:p>
          <a:p>
            <a:pPr marL="0" indent="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da-DK" altLang="da-DK" sz="1800" dirty="0"/>
              <a:t>Før </a:t>
            </a:r>
            <a:r>
              <a:rPr lang="da-DK" altLang="da-DK" sz="1800" dirty="0" err="1"/>
              <a:t>clustering</a:t>
            </a:r>
            <a:r>
              <a:rPr lang="da-DK" altLang="da-DK" sz="1800" dirty="0"/>
              <a:t> blev de udvalgte variable </a:t>
            </a:r>
            <a:r>
              <a:rPr lang="da-DK" altLang="da-DK" sz="1800" b="1" dirty="0"/>
              <a:t>standardiseret</a:t>
            </a:r>
            <a:r>
              <a:rPr lang="da-DK" altLang="da-DK" sz="1800" dirty="0"/>
              <a:t>. </a:t>
            </a:r>
          </a:p>
          <a:p>
            <a:pPr marL="0" indent="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da-DK" altLang="da-DK" sz="1800" dirty="0"/>
              <a:t>Standardisering er nødvendig, fordi variablene måles på forskellige skalaer.</a:t>
            </a:r>
          </a:p>
          <a:p>
            <a:pPr marL="0" indent="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da-DK" altLang="da-DK" sz="1800" dirty="0"/>
              <a:t>Antallet af clusters blev bestemt ved hjælp af </a:t>
            </a:r>
            <a:r>
              <a:rPr lang="da-DK" altLang="da-DK" sz="1800" dirty="0" err="1"/>
              <a:t>elbow</a:t>
            </a:r>
            <a:r>
              <a:rPr lang="da-DK" altLang="da-DK" sz="1800" dirty="0"/>
              <a:t>-metoden. </a:t>
            </a:r>
          </a:p>
          <a:p>
            <a:pPr marL="0" indent="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da-DK" altLang="da-DK" sz="1800" dirty="0"/>
              <a:t>Derefter blev der anvendt k-</a:t>
            </a:r>
            <a:r>
              <a:rPr lang="da-DK" altLang="da-DK" sz="1800" dirty="0" err="1"/>
              <a:t>means</a:t>
            </a:r>
            <a:r>
              <a:rPr lang="da-DK" altLang="da-DK" sz="1800" dirty="0"/>
              <a:t> </a:t>
            </a:r>
            <a:r>
              <a:rPr lang="da-DK" altLang="da-DK" sz="1800" dirty="0" err="1"/>
              <a:t>clustering</a:t>
            </a:r>
            <a:r>
              <a:rPr lang="da-DK" altLang="da-DK" sz="1800" dirty="0"/>
              <a:t>. </a:t>
            </a:r>
          </a:p>
          <a:p>
            <a:pPr marL="0" indent="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da-DK" altLang="da-DK" sz="1800" dirty="0"/>
              <a:t>K-</a:t>
            </a:r>
            <a:r>
              <a:rPr lang="da-DK" altLang="da-DK" sz="1800" dirty="0" err="1"/>
              <a:t>means</a:t>
            </a:r>
            <a:r>
              <a:rPr lang="da-DK" altLang="da-DK" sz="1800" dirty="0"/>
              <a:t> grupperer observationer, som ligner hinanden mest muligt. </a:t>
            </a:r>
          </a:p>
        </p:txBody>
      </p:sp>
      <p:graphicFrame>
        <p:nvGraphicFramePr>
          <p:cNvPr id="5" name="Diagram 4">
            <a:extLst>
              <a:ext uri="{FF2B5EF4-FFF2-40B4-BE49-F238E27FC236}">
                <a16:creationId xmlns:a16="http://schemas.microsoft.com/office/drawing/2014/main" id="{90BB9B54-FD47-7F09-18FA-F33F97068F9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956797173"/>
              </p:ext>
            </p:extLst>
          </p:nvPr>
        </p:nvGraphicFramePr>
        <p:xfrm>
          <a:off x="1154954" y="5509466"/>
          <a:ext cx="10180518" cy="146054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7" name="Rektangulær billedforklaring 6">
            <a:extLst>
              <a:ext uri="{FF2B5EF4-FFF2-40B4-BE49-F238E27FC236}">
                <a16:creationId xmlns:a16="http://schemas.microsoft.com/office/drawing/2014/main" id="{CE60C94D-C6DB-ABD2-41EB-A362C9DEF926}"/>
              </a:ext>
            </a:extLst>
          </p:cNvPr>
          <p:cNvSpPr/>
          <p:nvPr/>
        </p:nvSpPr>
        <p:spPr>
          <a:xfrm>
            <a:off x="8455892" y="2869786"/>
            <a:ext cx="2581154" cy="1655179"/>
          </a:xfrm>
          <a:prstGeom prst="wedgeRectCallout">
            <a:avLst>
              <a:gd name="adj1" fmla="val -60725"/>
              <a:gd name="adj2" fmla="val 23234"/>
            </a:avLst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a-DK" b="1" dirty="0"/>
              <a:t>Hvorfor standardisering?</a:t>
            </a:r>
          </a:p>
          <a:p>
            <a:pPr algn="ctr"/>
            <a:r>
              <a:rPr lang="da-DK" dirty="0"/>
              <a:t>Ellers ville variable med store tal dominere modellen.</a:t>
            </a:r>
          </a:p>
        </p:txBody>
      </p:sp>
    </p:spTree>
    <p:extLst>
      <p:ext uri="{BB962C8B-B14F-4D97-AF65-F5344CB8AC3E}">
        <p14:creationId xmlns:p14="http://schemas.microsoft.com/office/powerpoint/2010/main" val="61809730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10ACA8E-D9A3-DB33-9C0A-9AADBF07FA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Elbow plot</a:t>
            </a:r>
          </a:p>
        </p:txBody>
      </p:sp>
      <p:pic>
        <p:nvPicPr>
          <p:cNvPr id="8194" name="Picture 2" descr="Et billede, der indeholder tekst, linje/række, kvittering, Kurve&#10;&#10;AI-genereret indhold kan være ukorrekt.">
            <a:extLst>
              <a:ext uri="{FF2B5EF4-FFF2-40B4-BE49-F238E27FC236}">
                <a16:creationId xmlns:a16="http://schemas.microsoft.com/office/drawing/2014/main" id="{479541C5-F8E1-5C84-056C-FBF8D559905C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5446711" y="2097088"/>
            <a:ext cx="5600700" cy="3238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kstfelt 3">
            <a:extLst>
              <a:ext uri="{FF2B5EF4-FFF2-40B4-BE49-F238E27FC236}">
                <a16:creationId xmlns:a16="http://schemas.microsoft.com/office/drawing/2014/main" id="{055F38E5-88B7-49D1-53B9-2EAA865610F4}"/>
              </a:ext>
            </a:extLst>
          </p:cNvPr>
          <p:cNvSpPr txBox="1"/>
          <p:nvPr/>
        </p:nvSpPr>
        <p:spPr>
          <a:xfrm>
            <a:off x="696686" y="2583543"/>
            <a:ext cx="4542971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da-DK" dirty="0"/>
              <a:t>Elbow-plottet viser udviklingen i </a:t>
            </a:r>
            <a:r>
              <a:rPr lang="da-DK" dirty="0" err="1"/>
              <a:t>within</a:t>
            </a:r>
            <a:r>
              <a:rPr lang="da-DK" dirty="0"/>
              <a:t>-cluster sum of </a:t>
            </a:r>
            <a:r>
              <a:rPr lang="da-DK" dirty="0" err="1"/>
              <a:t>squares</a:t>
            </a:r>
            <a:r>
              <a:rPr lang="da-DK" dirty="0"/>
              <a:t> (WSS).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a-DK" b="1" dirty="0"/>
              <a:t>Tydeligt knæk ved 2 clusters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a-DK" dirty="0"/>
              <a:t>Det betyder, at en yderligere opdeling kun forbedrer modellen begrænset.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a-DK" dirty="0"/>
              <a:t>Derfor vælges </a:t>
            </a:r>
            <a:r>
              <a:rPr lang="da-DK" b="1" dirty="0"/>
              <a:t>to clusters</a:t>
            </a:r>
            <a:r>
              <a:rPr lang="da-DK" dirty="0"/>
              <a:t>, fordi det giver den mest enkle og fortolkelige løsning.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273123605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223" name="Rectangle 9222">
            <a:extLst>
              <a:ext uri="{FF2B5EF4-FFF2-40B4-BE49-F238E27FC236}">
                <a16:creationId xmlns:a16="http://schemas.microsoft.com/office/drawing/2014/main" id="{D3D9C211-8F21-4A97-8049-2B8C68A6E1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9867" cy="685528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225" name="Picture 9224">
            <a:extLst>
              <a:ext uri="{FF2B5EF4-FFF2-40B4-BE49-F238E27FC236}">
                <a16:creationId xmlns:a16="http://schemas.microsoft.com/office/drawing/2014/main" id="{7AFA68E2-A597-4244-9D7F-815908A7A6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31794" y="2105202"/>
            <a:ext cx="9360205" cy="4752798"/>
          </a:xfrm>
          <a:prstGeom prst="rect">
            <a:avLst/>
          </a:prstGeom>
        </p:spPr>
      </p:pic>
      <p:pic>
        <p:nvPicPr>
          <p:cNvPr id="9227" name="Picture 9226">
            <a:extLst>
              <a:ext uri="{FF2B5EF4-FFF2-40B4-BE49-F238E27FC236}">
                <a16:creationId xmlns:a16="http://schemas.microsoft.com/office/drawing/2014/main" id="{09187A76-8E49-4C96-81CB-2441826EF8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4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9867" cy="6858000"/>
          </a:xfrm>
          <a:prstGeom prst="rect">
            <a:avLst/>
          </a:prstGeom>
        </p:spPr>
      </p:pic>
      <p:sp>
        <p:nvSpPr>
          <p:cNvPr id="9229" name="Rectangle 9228">
            <a:extLst>
              <a:ext uri="{FF2B5EF4-FFF2-40B4-BE49-F238E27FC236}">
                <a16:creationId xmlns:a16="http://schemas.microsoft.com/office/drawing/2014/main" id="{DD29D549-B400-4CC1-A4C4-2BBD0103D6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64174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231" name="Rectangle 9230">
            <a:extLst>
              <a:ext uri="{FF2B5EF4-FFF2-40B4-BE49-F238E27FC236}">
                <a16:creationId xmlns:a16="http://schemas.microsoft.com/office/drawing/2014/main" id="{10CDF5F3-8D6A-46B5-9CEE-3781FE9D2D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62042" y="0"/>
            <a:ext cx="45719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233" name="Rectangle 9232">
            <a:extLst>
              <a:ext uri="{FF2B5EF4-FFF2-40B4-BE49-F238E27FC236}">
                <a16:creationId xmlns:a16="http://schemas.microsoft.com/office/drawing/2014/main" id="{8D25548B-B730-4DC4-847E-0BCC3FBDAD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07533" y="0"/>
            <a:ext cx="10378001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8EB03C1A-09D6-5490-88A2-45B9E255C2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69803" y="808056"/>
            <a:ext cx="8608037" cy="1077229"/>
          </a:xfrm>
        </p:spPr>
        <p:txBody>
          <a:bodyPr>
            <a:normAutofit/>
          </a:bodyPr>
          <a:lstStyle/>
          <a:p>
            <a:pPr algn="l"/>
            <a:r>
              <a:rPr lang="da-DK" dirty="0"/>
              <a:t>De to identificerede kampprofiler</a:t>
            </a:r>
            <a:endParaRPr lang="da-DK"/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C1494EF7-3E6F-E8A8-3CAA-8F13D37369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99959" y="1724628"/>
            <a:ext cx="3234724" cy="4325316"/>
          </a:xfrm>
        </p:spPr>
        <p:txBody>
          <a:bodyPr>
            <a:normAutofit/>
          </a:bodyPr>
          <a:lstStyle/>
          <a:p>
            <a:pPr>
              <a:lnSpc>
                <a:spcPct val="110000"/>
              </a:lnSpc>
            </a:pPr>
            <a:r>
              <a:rPr lang="da-DK" sz="1600" dirty="0"/>
              <a:t>Hver prik repræsenterer </a:t>
            </a:r>
            <a:r>
              <a:rPr lang="da-DK" sz="1600" b="1" dirty="0"/>
              <a:t>ét holds præstation i én kamp</a:t>
            </a:r>
            <a:r>
              <a:rPr lang="da-DK" sz="1600" dirty="0"/>
              <a:t>.</a:t>
            </a:r>
          </a:p>
          <a:p>
            <a:pPr>
              <a:lnSpc>
                <a:spcPct val="110000"/>
              </a:lnSpc>
            </a:pPr>
            <a:r>
              <a:rPr lang="da-DK" sz="1600" dirty="0"/>
              <a:t>Farverne viser, hvilket cluster observationen tilhører.</a:t>
            </a:r>
          </a:p>
          <a:p>
            <a:pPr>
              <a:lnSpc>
                <a:spcPct val="110000"/>
              </a:lnSpc>
            </a:pPr>
            <a:r>
              <a:rPr lang="da-DK" sz="1600" dirty="0"/>
              <a:t>Der ses en tydelig opdeling mellem kampe med </a:t>
            </a:r>
            <a:r>
              <a:rPr lang="da-DK" sz="1600" b="1" dirty="0"/>
              <a:t>lav offensiv aktivitet</a:t>
            </a:r>
            <a:r>
              <a:rPr lang="da-DK" sz="1600" dirty="0"/>
              <a:t> og kampe med </a:t>
            </a:r>
            <a:r>
              <a:rPr lang="da-DK" sz="1600" b="1" dirty="0"/>
              <a:t>høj offensiv aktivitet</a:t>
            </a:r>
            <a:r>
              <a:rPr lang="da-DK" sz="1600" dirty="0"/>
              <a:t>.</a:t>
            </a:r>
          </a:p>
          <a:p>
            <a:pPr>
              <a:lnSpc>
                <a:spcPct val="110000"/>
              </a:lnSpc>
            </a:pPr>
            <a:r>
              <a:rPr lang="da-DK" sz="1600" dirty="0"/>
              <a:t>Figuren viser, at </a:t>
            </a:r>
            <a:r>
              <a:rPr lang="da-DK" sz="1600" dirty="0" err="1"/>
              <a:t>xG</a:t>
            </a:r>
            <a:r>
              <a:rPr lang="da-DK" sz="1600" dirty="0"/>
              <a:t> og antal skud i høj grad er med til at adskille kampene</a:t>
            </a:r>
            <a:r>
              <a:rPr lang="da-DK" sz="1400" dirty="0"/>
              <a:t>.</a:t>
            </a:r>
          </a:p>
        </p:txBody>
      </p:sp>
      <p:pic>
        <p:nvPicPr>
          <p:cNvPr id="9218" name="Picture 2" descr="Et billede, der indeholder tekst, skærmbillede, Font/skrifttype, linje/række&#10;&#10;AI-genereret indhold kan være ukorrekt.">
            <a:extLst>
              <a:ext uri="{FF2B5EF4-FFF2-40B4-BE49-F238E27FC236}">
                <a16:creationId xmlns:a16="http://schemas.microsoft.com/office/drawing/2014/main" id="{0738D248-2AEF-CF56-30AB-7470B3D9D6A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5003694" y="2427043"/>
            <a:ext cx="5955978" cy="3126888"/>
          </a:xfrm>
          <a:prstGeom prst="rect">
            <a:avLst/>
          </a:prstGeom>
          <a:noFill/>
          <a:ln>
            <a:gradFill flip="none" rotWithShape="1">
              <a:gsLst>
                <a:gs pos="86000">
                  <a:schemeClr val="accent6">
                    <a:lumMod val="67000"/>
                  </a:schemeClr>
                </a:gs>
                <a:gs pos="20000">
                  <a:schemeClr val="accent6">
                    <a:lumMod val="97000"/>
                    <a:lumOff val="3000"/>
                  </a:schemeClr>
                </a:gs>
                <a:gs pos="100000">
                  <a:schemeClr val="accent6">
                    <a:lumMod val="60000"/>
                    <a:lumOff val="40000"/>
                  </a:schemeClr>
                </a:gs>
              </a:gsLst>
              <a:lin ang="16200000" scaled="1"/>
              <a:tileRect/>
            </a:gradFill>
          </a:ln>
          <a:effectLst>
            <a:innerShdw blurRad="127000">
              <a:prstClr val="black">
                <a:alpha val="90000"/>
              </a:prstClr>
            </a:inn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235" name="Rectangle 9234">
            <a:extLst>
              <a:ext uri="{FF2B5EF4-FFF2-40B4-BE49-F238E27FC236}">
                <a16:creationId xmlns:a16="http://schemas.microsoft.com/office/drawing/2014/main" id="{5E3AB02F-4F56-4FF9-A7F4-9D975CC9A6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387666" y="-2718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410991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2886F83-B763-90A6-0309-371E4EA0EB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Hvad kendetegner de to cluster?</a:t>
            </a:r>
          </a:p>
        </p:txBody>
      </p:sp>
      <p:graphicFrame>
        <p:nvGraphicFramePr>
          <p:cNvPr id="6" name="Pladsholder til indhold 5">
            <a:extLst>
              <a:ext uri="{FF2B5EF4-FFF2-40B4-BE49-F238E27FC236}">
                <a16:creationId xmlns:a16="http://schemas.microsoft.com/office/drawing/2014/main" id="{1BE5FBA1-F17A-B6BD-E243-6DF0B091CF1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275576638"/>
              </p:ext>
            </p:extLst>
          </p:nvPr>
        </p:nvGraphicFramePr>
        <p:xfrm>
          <a:off x="1187449" y="2095018"/>
          <a:ext cx="9817101" cy="4294602"/>
        </p:xfrm>
        <a:graphic>
          <a:graphicData uri="http://schemas.openxmlformats.org/drawingml/2006/table">
            <a:tbl>
              <a:tblPr firstRow="1" bandRow="1">
                <a:tableStyleId>{10A1B5D5-9B99-4C35-A422-299274C87663}</a:tableStyleId>
              </a:tblPr>
              <a:tblGrid>
                <a:gridCol w="754261">
                  <a:extLst>
                    <a:ext uri="{9D8B030D-6E8A-4147-A177-3AD203B41FA5}">
                      <a16:colId xmlns:a16="http://schemas.microsoft.com/office/drawing/2014/main" val="3980659472"/>
                    </a:ext>
                  </a:extLst>
                </a:gridCol>
                <a:gridCol w="3603057">
                  <a:extLst>
                    <a:ext uri="{9D8B030D-6E8A-4147-A177-3AD203B41FA5}">
                      <a16:colId xmlns:a16="http://schemas.microsoft.com/office/drawing/2014/main" val="3929816939"/>
                    </a:ext>
                  </a:extLst>
                </a:gridCol>
                <a:gridCol w="5459783">
                  <a:extLst>
                    <a:ext uri="{9D8B030D-6E8A-4147-A177-3AD203B41FA5}">
                      <a16:colId xmlns:a16="http://schemas.microsoft.com/office/drawing/2014/main" val="2505505735"/>
                    </a:ext>
                  </a:extLst>
                </a:gridCol>
              </a:tblGrid>
              <a:tr h="697962">
                <a:tc>
                  <a:txBody>
                    <a:bodyPr/>
                    <a:lstStyle/>
                    <a:p>
                      <a:r>
                        <a:rPr lang="da-DK" dirty="0">
                          <a:solidFill>
                            <a:schemeClr val="bg1"/>
                          </a:solidFill>
                        </a:rPr>
                        <a:t>Cluster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a-DK" dirty="0">
                          <a:solidFill>
                            <a:schemeClr val="bg1"/>
                          </a:solidFill>
                        </a:rPr>
                        <a:t>Navn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a-DK" dirty="0">
                          <a:solidFill>
                            <a:schemeClr val="bg1"/>
                          </a:solidFill>
                        </a:rPr>
                        <a:t>Forklaring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11841295"/>
                  </a:ext>
                </a:extLst>
              </a:tr>
              <a:tr h="1711312">
                <a:tc>
                  <a:txBody>
                    <a:bodyPr/>
                    <a:lstStyle/>
                    <a:p>
                      <a:r>
                        <a:rPr lang="da-DK" sz="2800" b="1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a-DK" sz="2000" b="1" dirty="0"/>
                        <a:t>Lukkede og chancefattige kampe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da-DK" sz="1600" dirty="0"/>
                        <a:t>Få skud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da-DK" sz="1600" dirty="0"/>
                        <a:t>Lav </a:t>
                      </a:r>
                      <a:r>
                        <a:rPr lang="da-DK" sz="1600" dirty="0" err="1"/>
                        <a:t>xG</a:t>
                      </a:r>
                      <a:endParaRPr lang="da-DK" sz="1600" dirty="0"/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da-DK" sz="1600" dirty="0"/>
                        <a:t>Få skud på mål 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da-DK" sz="1600" dirty="0"/>
                        <a:t>Færre berøringer i feltet</a:t>
                      </a:r>
                      <a:br>
                        <a:rPr lang="da-DK" sz="1600" dirty="0"/>
                      </a:br>
                      <a:r>
                        <a:rPr lang="da-DK" sz="1600" b="1" dirty="0"/>
                        <a:t>Fortolkning:</a:t>
                      </a:r>
                      <a:r>
                        <a:rPr lang="da-DK" sz="1600" dirty="0"/>
                        <a:t> Mere kontrollerede eller låste opgør. Færre store chancer. Kampen afgøres ofte af små marginaler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05123942"/>
                  </a:ext>
                </a:extLst>
              </a:tr>
              <a:tr h="1711312">
                <a:tc>
                  <a:txBody>
                    <a:bodyPr/>
                    <a:lstStyle/>
                    <a:p>
                      <a:r>
                        <a:rPr lang="da-DK" sz="2400" b="1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a-DK" sz="2000" b="1" dirty="0"/>
                        <a:t>Åbne og chanceprægede kampe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da-DK" sz="1600" dirty="0"/>
                        <a:t>Mange skud, 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da-DK" sz="1600" dirty="0"/>
                        <a:t>Høj </a:t>
                      </a:r>
                      <a:r>
                        <a:rPr lang="da-DK" sz="1600" dirty="0" err="1"/>
                        <a:t>xG</a:t>
                      </a:r>
                      <a:r>
                        <a:rPr lang="da-DK" sz="1600" dirty="0"/>
                        <a:t>, 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da-DK" sz="1600" dirty="0"/>
                        <a:t>Flere skud på mål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da-DK" sz="1600" dirty="0"/>
                        <a:t>Flere berøringer i feltet</a:t>
                      </a:r>
                      <a:br>
                        <a:rPr lang="da-DK" sz="1600" dirty="0"/>
                      </a:br>
                      <a:r>
                        <a:rPr lang="da-DK" sz="1600" b="1" dirty="0"/>
                        <a:t>Fortolkning:</a:t>
                      </a:r>
                      <a:r>
                        <a:rPr lang="da-DK" sz="1600" dirty="0"/>
                        <a:t> Mere dynamiske kampe. Flere overgange og afslutninger. Større offensivt tryk og flere målchancer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0946428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408754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3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285" name="Rectangle 11270">
            <a:extLst>
              <a:ext uri="{FF2B5EF4-FFF2-40B4-BE49-F238E27FC236}">
                <a16:creationId xmlns:a16="http://schemas.microsoft.com/office/drawing/2014/main" id="{6015C941-B6E2-427B-A786-811A09EE57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9867" cy="685528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286" name="Picture 11272">
            <a:extLst>
              <a:ext uri="{FF2B5EF4-FFF2-40B4-BE49-F238E27FC236}">
                <a16:creationId xmlns:a16="http://schemas.microsoft.com/office/drawing/2014/main" id="{D4914085-62C8-4066-8CD5-B736B07FE7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31794" y="2105202"/>
            <a:ext cx="9360205" cy="4752798"/>
          </a:xfrm>
          <a:prstGeom prst="rect">
            <a:avLst/>
          </a:prstGeom>
        </p:spPr>
      </p:pic>
      <p:pic>
        <p:nvPicPr>
          <p:cNvPr id="11287" name="Picture 11274">
            <a:extLst>
              <a:ext uri="{FF2B5EF4-FFF2-40B4-BE49-F238E27FC236}">
                <a16:creationId xmlns:a16="http://schemas.microsoft.com/office/drawing/2014/main" id="{0BCBA8F8-2B5B-4E10-B3E6-C3C60804B1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5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9867" cy="6858000"/>
          </a:xfrm>
          <a:prstGeom prst="rect">
            <a:avLst/>
          </a:prstGeom>
        </p:spPr>
      </p:pic>
      <p:sp>
        <p:nvSpPr>
          <p:cNvPr id="11288" name="Rectangle 11276">
            <a:extLst>
              <a:ext uri="{FF2B5EF4-FFF2-40B4-BE49-F238E27FC236}">
                <a16:creationId xmlns:a16="http://schemas.microsoft.com/office/drawing/2014/main" id="{8CF5748B-30AF-4C80-B2B8-32B65B8CE7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64174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289" name="Rectangle 11278">
            <a:extLst>
              <a:ext uri="{FF2B5EF4-FFF2-40B4-BE49-F238E27FC236}">
                <a16:creationId xmlns:a16="http://schemas.microsoft.com/office/drawing/2014/main" id="{C66DAAF2-6E09-40A3-B848-561D42DDBB1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62042" y="0"/>
            <a:ext cx="45719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290" name="Rectangle 11280">
            <a:extLst>
              <a:ext uri="{FF2B5EF4-FFF2-40B4-BE49-F238E27FC236}">
                <a16:creationId xmlns:a16="http://schemas.microsoft.com/office/drawing/2014/main" id="{38DEBB06-2F2B-4613-A653-AF24819D89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07533" y="0"/>
            <a:ext cx="10378001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7D122925-1F73-A647-D6A0-086692DBBB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69804" y="808056"/>
            <a:ext cx="3317492" cy="1077229"/>
          </a:xfrm>
        </p:spPr>
        <p:txBody>
          <a:bodyPr>
            <a:normAutofit/>
          </a:bodyPr>
          <a:lstStyle/>
          <a:p>
            <a:pPr algn="l"/>
            <a:r>
              <a:rPr lang="da-DK" sz="2100"/>
              <a:t>Brøndby mod forskellige modstandere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1F5D1862-7C77-7EBD-C7A2-6BEC75378D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54239" y="1747777"/>
            <a:ext cx="3933058" cy="4302167"/>
          </a:xfrm>
        </p:spPr>
        <p:txBody>
          <a:bodyPr>
            <a:normAutofit lnSpcReduction="10000"/>
          </a:bodyPr>
          <a:lstStyle/>
          <a:p>
            <a:pPr>
              <a:lnSpc>
                <a:spcPct val="110000"/>
              </a:lnSpc>
            </a:pPr>
            <a:r>
              <a:rPr lang="da-DK" sz="1600" dirty="0"/>
              <a:t>Figuren viser fordelingen af </a:t>
            </a:r>
            <a:r>
              <a:rPr lang="da-DK" sz="1600" b="1" dirty="0"/>
              <a:t>lukkede</a:t>
            </a:r>
            <a:r>
              <a:rPr lang="da-DK" sz="1600" dirty="0"/>
              <a:t> og </a:t>
            </a:r>
            <a:r>
              <a:rPr lang="da-DK" sz="1600" b="1" dirty="0"/>
              <a:t>åbne</a:t>
            </a:r>
            <a:r>
              <a:rPr lang="da-DK" sz="1600" dirty="0"/>
              <a:t> kampe for Brøndby mod forskellige modstandere.</a:t>
            </a:r>
          </a:p>
          <a:p>
            <a:pPr>
              <a:lnSpc>
                <a:spcPct val="110000"/>
              </a:lnSpc>
            </a:pPr>
            <a:r>
              <a:rPr lang="da-DK" sz="1600" dirty="0"/>
              <a:t>Der ses tydelige variationer mellem modstanderne.</a:t>
            </a:r>
          </a:p>
          <a:p>
            <a:pPr>
              <a:lnSpc>
                <a:spcPct val="110000"/>
              </a:lnSpc>
            </a:pPr>
            <a:r>
              <a:rPr lang="da-DK" sz="1600" dirty="0"/>
              <a:t>Mod fx </a:t>
            </a:r>
            <a:r>
              <a:rPr lang="da-DK" sz="1600" b="1" dirty="0"/>
              <a:t>Fredericia og Viborg</a:t>
            </a:r>
            <a:r>
              <a:rPr lang="da-DK" sz="1600" dirty="0"/>
              <a:t> optræder der oftere åbne og chanceprægede kampe.</a:t>
            </a:r>
          </a:p>
          <a:p>
            <a:pPr>
              <a:lnSpc>
                <a:spcPct val="110000"/>
              </a:lnSpc>
            </a:pPr>
            <a:r>
              <a:rPr lang="da-DK" sz="1600" dirty="0"/>
              <a:t>Mod fx </a:t>
            </a:r>
            <a:r>
              <a:rPr lang="da-DK" sz="1600" b="1" dirty="0"/>
              <a:t>København og Midtjylland</a:t>
            </a:r>
            <a:r>
              <a:rPr lang="da-DK" sz="1600" dirty="0"/>
              <a:t> er kampene i højere grad lukkede og chancefattige.</a:t>
            </a:r>
          </a:p>
          <a:p>
            <a:pPr>
              <a:lnSpc>
                <a:spcPct val="110000"/>
              </a:lnSpc>
            </a:pPr>
            <a:r>
              <a:rPr lang="da-DK" sz="1600" dirty="0"/>
              <a:t>Nogle modstandere giver et mere blandet kampbillede.</a:t>
            </a:r>
            <a:endParaRPr lang="da-DK" sz="1300" dirty="0"/>
          </a:p>
        </p:txBody>
      </p:sp>
      <p:pic>
        <p:nvPicPr>
          <p:cNvPr id="11266" name="Picture 2" descr="Et billede, der indeholder tekst, skærmbillede, Font/skrifttype, linje/række&#10;&#10;AI-genereret indhold kan være ukorrekt.">
            <a:extLst>
              <a:ext uri="{FF2B5EF4-FFF2-40B4-BE49-F238E27FC236}">
                <a16:creationId xmlns:a16="http://schemas.microsoft.com/office/drawing/2014/main" id="{7B48E5A1-C6D4-B5D1-8BD6-B911F1B8351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9862"/>
          <a:stretch>
            <a:fillRect/>
          </a:stretch>
        </p:blipFill>
        <p:spPr bwMode="auto">
          <a:xfrm>
            <a:off x="5414728" y="2546543"/>
            <a:ext cx="5769739" cy="2873399"/>
          </a:xfrm>
          <a:prstGeom prst="rect">
            <a:avLst/>
          </a:prstGeom>
          <a:noFill/>
          <a:ln>
            <a:gradFill flip="none" rotWithShape="1">
              <a:gsLst>
                <a:gs pos="86000">
                  <a:schemeClr val="accent6">
                    <a:lumMod val="67000"/>
                  </a:schemeClr>
                </a:gs>
                <a:gs pos="20000">
                  <a:schemeClr val="accent6">
                    <a:lumMod val="97000"/>
                    <a:lumOff val="3000"/>
                  </a:schemeClr>
                </a:gs>
                <a:gs pos="100000">
                  <a:schemeClr val="accent6">
                    <a:lumMod val="60000"/>
                    <a:lumOff val="40000"/>
                  </a:schemeClr>
                </a:gs>
              </a:gsLst>
              <a:lin ang="16200000" scaled="1"/>
              <a:tileRect/>
            </a:gradFill>
          </a:ln>
          <a:effectLst>
            <a:innerShdw blurRad="127000">
              <a:prstClr val="black">
                <a:alpha val="90000"/>
              </a:prstClr>
            </a:inn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291" name="Rectangle 11282">
            <a:extLst>
              <a:ext uri="{FF2B5EF4-FFF2-40B4-BE49-F238E27FC236}">
                <a16:creationId xmlns:a16="http://schemas.microsoft.com/office/drawing/2014/main" id="{63BE936C-D06F-4A37-A432-00F3432CF1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387666" y="-2718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96932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144" name="Rectangle 5143">
            <a:extLst>
              <a:ext uri="{FF2B5EF4-FFF2-40B4-BE49-F238E27FC236}">
                <a16:creationId xmlns:a16="http://schemas.microsoft.com/office/drawing/2014/main" id="{4FDE5D9B-5DA2-4A61-8DEA-030C8B8393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9867" cy="685528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124" name="Picture 4" descr="Har du en drøm om at blive fodboldtræner, så lær fra de bedste">
            <a:extLst>
              <a:ext uri="{FF2B5EF4-FFF2-40B4-BE49-F238E27FC236}">
                <a16:creationId xmlns:a16="http://schemas.microsoft.com/office/drawing/2014/main" id="{A8C2E5BA-3152-2AEC-F017-1B770F64E8C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62" r="9091" b="8027"/>
          <a:stretch>
            <a:fillRect/>
          </a:stretch>
        </p:blipFill>
        <p:spPr bwMode="auto">
          <a:xfrm>
            <a:off x="0" y="248856"/>
            <a:ext cx="12191675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46" name="Picture 5145">
            <a:extLst>
              <a:ext uri="{FF2B5EF4-FFF2-40B4-BE49-F238E27FC236}">
                <a16:creationId xmlns:a16="http://schemas.microsoft.com/office/drawing/2014/main" id="{22FCD9CB-87EB-40F9-9004-926A80C55F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31794" y="2105202"/>
            <a:ext cx="9360205" cy="4752798"/>
          </a:xfrm>
          <a:prstGeom prst="rect">
            <a:avLst/>
          </a:prstGeom>
        </p:spPr>
      </p:pic>
      <p:pic>
        <p:nvPicPr>
          <p:cNvPr id="5148" name="Picture 5147">
            <a:extLst>
              <a:ext uri="{FF2B5EF4-FFF2-40B4-BE49-F238E27FC236}">
                <a16:creationId xmlns:a16="http://schemas.microsoft.com/office/drawing/2014/main" id="{1FA69050-F98D-4FBB-832E-84A9783302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5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9867" cy="6858000"/>
          </a:xfrm>
          <a:prstGeom prst="rect">
            <a:avLst/>
          </a:prstGeom>
        </p:spPr>
      </p:pic>
      <p:sp>
        <p:nvSpPr>
          <p:cNvPr id="5150" name="Rectangle 5149">
            <a:extLst>
              <a:ext uri="{FF2B5EF4-FFF2-40B4-BE49-F238E27FC236}">
                <a16:creationId xmlns:a16="http://schemas.microsoft.com/office/drawing/2014/main" id="{E2B7C1FE-204F-4D12-9428-F1F00E6870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64174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52" name="Rectangle 5151">
            <a:extLst>
              <a:ext uri="{FF2B5EF4-FFF2-40B4-BE49-F238E27FC236}">
                <a16:creationId xmlns:a16="http://schemas.microsoft.com/office/drawing/2014/main" id="{1ECC5A9E-F4D7-4F66-B47C-C62674B267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62042" y="0"/>
            <a:ext cx="45719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54" name="Rectangle 5153">
            <a:extLst>
              <a:ext uri="{FF2B5EF4-FFF2-40B4-BE49-F238E27FC236}">
                <a16:creationId xmlns:a16="http://schemas.microsoft.com/office/drawing/2014/main" id="{3EE2F2A2-CBFE-4159-A204-347E2B1F33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07535" y="0"/>
            <a:ext cx="4431479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9DB54D14-0BE4-D650-3557-30BF2BDD73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74738" y="808056"/>
            <a:ext cx="2659944" cy="1225532"/>
          </a:xfrm>
        </p:spPr>
        <p:txBody>
          <a:bodyPr>
            <a:normAutofit/>
          </a:bodyPr>
          <a:lstStyle/>
          <a:p>
            <a:pPr algn="l"/>
            <a:r>
              <a:rPr lang="da-DK" sz="2600"/>
              <a:t>Hvad kan Brøndby IF bruge det til?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F4CFA484-2C04-511E-F776-A376D103D6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9515" y="2104976"/>
            <a:ext cx="3884810" cy="4504168"/>
          </a:xfrm>
        </p:spPr>
        <p:txBody>
          <a:bodyPr>
            <a:normAutofit/>
          </a:bodyPr>
          <a:lstStyle/>
          <a:p>
            <a:pPr>
              <a:lnSpc>
                <a:spcPct val="110000"/>
              </a:lnSpc>
            </a:pPr>
            <a:r>
              <a:rPr lang="da-DK" sz="1200" dirty="0"/>
              <a:t>Modellen giver et </a:t>
            </a:r>
            <a:r>
              <a:rPr lang="da-DK" sz="1200" b="1" dirty="0"/>
              <a:t>hurtigt overblik</a:t>
            </a:r>
            <a:r>
              <a:rPr lang="da-DK" sz="1200" dirty="0"/>
              <a:t> over, hvilke typer kampe Brøndby typisk spiller. </a:t>
            </a:r>
          </a:p>
          <a:p>
            <a:pPr>
              <a:lnSpc>
                <a:spcPct val="110000"/>
              </a:lnSpc>
            </a:pPr>
            <a:r>
              <a:rPr lang="da-DK" sz="1200" dirty="0"/>
              <a:t>Den kan bruges i </a:t>
            </a:r>
            <a:r>
              <a:rPr lang="da-DK" sz="1200" b="1" dirty="0"/>
              <a:t>kampforberedelse</a:t>
            </a:r>
            <a:r>
              <a:rPr lang="da-DK" sz="1200" dirty="0"/>
              <a:t>, fordi man kan analysere hvilke modstandere der skaber åbne eller lukkede opgør. </a:t>
            </a:r>
          </a:p>
          <a:p>
            <a:pPr>
              <a:lnSpc>
                <a:spcPct val="110000"/>
              </a:lnSpc>
            </a:pPr>
            <a:r>
              <a:rPr lang="da-DK" sz="1200" dirty="0"/>
              <a:t>Den kan bruges i </a:t>
            </a:r>
            <a:r>
              <a:rPr lang="da-DK" sz="1200" b="1" dirty="0"/>
              <a:t>performanceanalyse</a:t>
            </a:r>
            <a:r>
              <a:rPr lang="da-DK" sz="1200" dirty="0"/>
              <a:t>, fordi man kan vurdere, om Brøndby præsterer bedst i bestemte kampbilleder. </a:t>
            </a:r>
          </a:p>
          <a:p>
            <a:pPr>
              <a:lnSpc>
                <a:spcPct val="110000"/>
              </a:lnSpc>
            </a:pPr>
            <a:r>
              <a:rPr lang="da-DK" sz="1200" dirty="0"/>
              <a:t>Den kan bruges som </a:t>
            </a:r>
            <a:r>
              <a:rPr lang="da-DK" sz="1200" b="1" dirty="0"/>
              <a:t>beslutningsstøtte</a:t>
            </a:r>
            <a:r>
              <a:rPr lang="da-DK" sz="1200" dirty="0"/>
              <a:t>, når trænerstaben skal tilpasse kampstrategi og fokusområder. </a:t>
            </a:r>
          </a:p>
          <a:p>
            <a:pPr>
              <a:lnSpc>
                <a:spcPct val="110000"/>
              </a:lnSpc>
            </a:pPr>
            <a:r>
              <a:rPr lang="da-DK" sz="1200" dirty="0"/>
              <a:t>Den kan også indgå i et </a:t>
            </a:r>
            <a:r>
              <a:rPr lang="da-DK" sz="1200" b="1" dirty="0" err="1"/>
              <a:t>dashboard</a:t>
            </a:r>
            <a:r>
              <a:rPr lang="da-DK" sz="1200" dirty="0"/>
              <a:t>, hvor brugeren kan filtrere på resultater, modstandere og kamptyper. </a:t>
            </a:r>
          </a:p>
          <a:p>
            <a:pPr>
              <a:lnSpc>
                <a:spcPct val="110000"/>
              </a:lnSpc>
            </a:pPr>
            <a:endParaRPr lang="da-DK" sz="1100" dirty="0"/>
          </a:p>
        </p:txBody>
      </p:sp>
      <p:sp>
        <p:nvSpPr>
          <p:cNvPr id="5156" name="Rectangle 5155">
            <a:extLst>
              <a:ext uri="{FF2B5EF4-FFF2-40B4-BE49-F238E27FC236}">
                <a16:creationId xmlns:a16="http://schemas.microsoft.com/office/drawing/2014/main" id="{C7D44A11-1B17-48A2-8E95-9A27FA8E8C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433755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350155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5F51E61-07C4-F22F-540E-7027908BBB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3312" y="452718"/>
            <a:ext cx="8947522" cy="1400530"/>
          </a:xfrm>
        </p:spPr>
        <p:txBody>
          <a:bodyPr anchor="ctr">
            <a:normAutofit/>
          </a:bodyPr>
          <a:lstStyle/>
          <a:p>
            <a:r>
              <a:rPr lang="da-DK" dirty="0">
                <a:solidFill>
                  <a:srgbClr val="FFFFFF"/>
                </a:solidFill>
              </a:rPr>
              <a:t>Opgave 4.2 - Visualisering af clustre for kampe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31E086CE-099D-9053-684B-29FA0D0265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3312" y="2763520"/>
            <a:ext cx="8946541" cy="3484879"/>
          </a:xfrm>
        </p:spPr>
        <p:txBody>
          <a:bodyPr>
            <a:normAutofit/>
          </a:bodyPr>
          <a:lstStyle/>
          <a:p>
            <a:r>
              <a:rPr lang="da-DK" dirty="0"/>
              <a:t>” Lav et Dashboard, der giver Brøndby IF et overblik over kampe i indeværende sæson</a:t>
            </a:r>
          </a:p>
        </p:txBody>
      </p:sp>
    </p:spTree>
    <p:extLst>
      <p:ext uri="{BB962C8B-B14F-4D97-AF65-F5344CB8AC3E}">
        <p14:creationId xmlns:p14="http://schemas.microsoft.com/office/powerpoint/2010/main" val="25535306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597491D-146D-FFF1-1D00-BF2BDDEB5B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</p:spPr>
        <p:txBody>
          <a:bodyPr>
            <a:normAutofit/>
          </a:bodyPr>
          <a:lstStyle/>
          <a:p>
            <a:r>
              <a:rPr lang="da-DK" dirty="0"/>
              <a:t>Fra analyse til </a:t>
            </a:r>
            <a:r>
              <a:rPr lang="da-DK" dirty="0" err="1"/>
              <a:t>dashboard</a:t>
            </a:r>
            <a:endParaRPr lang="da-DK" dirty="0"/>
          </a:p>
        </p:txBody>
      </p:sp>
      <p:graphicFrame>
        <p:nvGraphicFramePr>
          <p:cNvPr id="6" name="Rectangle 1">
            <a:extLst>
              <a:ext uri="{FF2B5EF4-FFF2-40B4-BE49-F238E27FC236}">
                <a16:creationId xmlns:a16="http://schemas.microsoft.com/office/drawing/2014/main" id="{86C0ADF5-5075-CB4D-B10E-5454E341EED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109931375"/>
              </p:ext>
            </p:extLst>
          </p:nvPr>
        </p:nvGraphicFramePr>
        <p:xfrm>
          <a:off x="646111" y="2140085"/>
          <a:ext cx="9404352" cy="405643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16522811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815E148-0670-C6AA-A3FD-527301C34B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3312" y="452718"/>
            <a:ext cx="8947522" cy="1400530"/>
          </a:xfrm>
        </p:spPr>
        <p:txBody>
          <a:bodyPr anchor="ctr">
            <a:normAutofit/>
          </a:bodyPr>
          <a:lstStyle/>
          <a:p>
            <a:r>
              <a:rPr lang="da-DK">
                <a:solidFill>
                  <a:srgbClr val="FFFFFF"/>
                </a:solidFill>
              </a:rPr>
              <a:t>Struktur og funktionalitet i dashboardet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91F26096-0105-8255-7301-1B7DDB6FCEB3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102332" y="2129742"/>
            <a:ext cx="8947521" cy="4118657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Ctr="0" compatLnSpc="1">
            <a:prstTxWarp prst="textNoShape">
              <a:avLst/>
            </a:prstTxWarp>
            <a:normAutofit lnSpcReduction="10000"/>
          </a:bodyPr>
          <a:lstStyle/>
          <a:p>
            <a:pPr marL="0" marR="0" lvl="0" indent="0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altLang="da-DK" sz="14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r>
              <a:rPr lang="da-DK" sz="1600" dirty="0" err="1"/>
              <a:t>Dashboardet</a:t>
            </a:r>
            <a:r>
              <a:rPr lang="da-DK" sz="1600" dirty="0"/>
              <a:t> er opdelt i en Brøndby-del og en liga/</a:t>
            </a:r>
            <a:r>
              <a:rPr lang="da-DK" sz="1600" dirty="0" err="1"/>
              <a:t>scouting</a:t>
            </a:r>
            <a:r>
              <a:rPr lang="da-DK" sz="1600" dirty="0"/>
              <a:t>-del </a:t>
            </a:r>
          </a:p>
          <a:p>
            <a:r>
              <a:rPr lang="da-DK" sz="1600" dirty="0"/>
              <a:t>Brøndby-delen giver et hurtigt overblik over holdets kampprofiler gennem </a:t>
            </a:r>
            <a:r>
              <a:rPr lang="da-DK" sz="1600" dirty="0" err="1"/>
              <a:t>KPI’er</a:t>
            </a:r>
            <a:r>
              <a:rPr lang="da-DK" sz="1600" dirty="0"/>
              <a:t> og visualiseringer </a:t>
            </a:r>
          </a:p>
          <a:p>
            <a:r>
              <a:rPr lang="da-DK" sz="1600" dirty="0"/>
              <a:t>Den centrale visualisering er et </a:t>
            </a:r>
            <a:r>
              <a:rPr lang="da-DK" sz="1600" dirty="0" err="1"/>
              <a:t>scatterplot</a:t>
            </a:r>
            <a:r>
              <a:rPr lang="da-DK" sz="1600" dirty="0"/>
              <a:t>, hvor kampenes placering viser deres kamptype og performance </a:t>
            </a:r>
          </a:p>
          <a:p>
            <a:r>
              <a:rPr lang="da-DK" sz="1600" dirty="0" err="1"/>
              <a:t>Scouting</a:t>
            </a:r>
            <a:r>
              <a:rPr lang="da-DK" sz="1600" dirty="0"/>
              <a:t>-delen gør det muligt at analysere kampe fra resten af ligaen med de samme variable og metoder </a:t>
            </a:r>
          </a:p>
          <a:p>
            <a:r>
              <a:rPr lang="da-DK" sz="1600" dirty="0"/>
              <a:t>Filtre på resultat, kamptype og valg af variable gør </a:t>
            </a:r>
            <a:r>
              <a:rPr lang="da-DK" sz="1600" dirty="0" err="1"/>
              <a:t>dashboardet</a:t>
            </a:r>
            <a:r>
              <a:rPr lang="da-DK" sz="1600" dirty="0"/>
              <a:t> fleksibelt og anvendeligt </a:t>
            </a:r>
          </a:p>
          <a:p>
            <a:r>
              <a:rPr lang="da-DK" sz="1600" dirty="0"/>
              <a:t>Det visuelle design er inspireret af Brøndbys farver for at skabe en professionel og genkendelig præsentation </a:t>
            </a:r>
          </a:p>
        </p:txBody>
      </p:sp>
    </p:spTree>
    <p:extLst>
      <p:ext uri="{BB962C8B-B14F-4D97-AF65-F5344CB8AC3E}">
        <p14:creationId xmlns:p14="http://schemas.microsoft.com/office/powerpoint/2010/main" val="919573156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Madison">
  <a:themeElements>
    <a:clrScheme name="Blå">
      <a:dk1>
        <a:sysClr val="windowText" lastClr="000000"/>
      </a:dk1>
      <a:lt1>
        <a:sysClr val="window" lastClr="FFFFFF"/>
      </a:lt1>
      <a:dk2>
        <a:srgbClr val="17406D"/>
      </a:dk2>
      <a:lt2>
        <a:srgbClr val="DBEF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Madison">
      <a:majorFont>
        <a:latin typeface="Arial" panose="020B06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Madison">
      <a:fillStyleLst>
        <a:solidFill>
          <a:schemeClr val="phClr"/>
        </a:solidFill>
        <a:gradFill rotWithShape="1">
          <a:gsLst>
            <a:gs pos="0">
              <a:schemeClr val="phClr">
                <a:tint val="48000"/>
                <a:alpha val="88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4000"/>
                <a:satMod val="130000"/>
                <a:lumMod val="92000"/>
              </a:schemeClr>
            </a:gs>
            <a:gs pos="100000">
              <a:schemeClr val="phClr">
                <a:shade val="76000"/>
                <a:satMod val="130000"/>
                <a:lumMod val="88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blipFill rotWithShape="1">
          <a:blip xmlns:r="http://schemas.openxmlformats.org/officeDocument/2006/relationships" r:embed="rId1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adison" id="{025CB5FB-2DD3-45EE-B6F0-CC461540EB19}" vid="{9B359FC9-1E88-4883-B31D-CCECAE2A7B38}"/>
    </a:ext>
  </a:extLst>
</a:theme>
</file>

<file path=ppt/theme/theme2.xml><?xml version="1.0" encoding="utf-8"?>
<a:theme xmlns:a="http://schemas.openxmlformats.org/drawingml/2006/main" name="Office-te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Madison</Template>
  <TotalTime>18</TotalTime>
  <Words>807</Words>
  <Application>Microsoft Macintosh PowerPoint</Application>
  <PresentationFormat>Widescreen</PresentationFormat>
  <Paragraphs>97</Paragraphs>
  <Slides>14</Slides>
  <Notes>1</Notes>
  <HiddenSlides>0</HiddenSlides>
  <MMClips>0</MMClips>
  <ScaleCrop>false</ScaleCrop>
  <HeadingPairs>
    <vt:vector size="6" baseType="variant">
      <vt:variant>
        <vt:lpstr>Benyttede skrifttyper</vt:lpstr>
      </vt:variant>
      <vt:variant>
        <vt:i4>5</vt:i4>
      </vt:variant>
      <vt:variant>
        <vt:lpstr>Tema</vt:lpstr>
      </vt:variant>
      <vt:variant>
        <vt:i4>1</vt:i4>
      </vt:variant>
      <vt:variant>
        <vt:lpstr>Slidetitler</vt:lpstr>
      </vt:variant>
      <vt:variant>
        <vt:i4>14</vt:i4>
      </vt:variant>
    </vt:vector>
  </HeadingPairs>
  <TitlesOfParts>
    <vt:vector size="20" baseType="lpstr">
      <vt:lpstr>Aptos</vt:lpstr>
      <vt:lpstr>Arial</vt:lpstr>
      <vt:lpstr>MS Shell Dlg 2</vt:lpstr>
      <vt:lpstr>Wingdings</vt:lpstr>
      <vt:lpstr>Wingdings 3</vt:lpstr>
      <vt:lpstr>Madison</vt:lpstr>
      <vt:lpstr>Opgave 3.2 og 4.2</vt:lpstr>
      <vt:lpstr>Opgave 3.2 - Kampe</vt:lpstr>
      <vt:lpstr>Hvad vil vi undersøge?</vt:lpstr>
      <vt:lpstr>Datagrundlag og udvalgte variable</vt:lpstr>
      <vt:lpstr>Variabler til clustering</vt:lpstr>
      <vt:lpstr>Metode – Hvordan blev modellen bygget?</vt:lpstr>
      <vt:lpstr>Elbow plot</vt:lpstr>
      <vt:lpstr>De to identificerede kampprofiler</vt:lpstr>
      <vt:lpstr>Hvad kendetegner de to cluster?</vt:lpstr>
      <vt:lpstr>Brøndby mod forskellige modstandere</vt:lpstr>
      <vt:lpstr>Hvad kan Brøndby IF bruge det til?</vt:lpstr>
      <vt:lpstr>Opgave 4.2 - Visualisering af clustre for kampe</vt:lpstr>
      <vt:lpstr>Fra analyse til dashboard</vt:lpstr>
      <vt:lpstr>Struktur og funktionalitet i dashboardet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Umar Farooq</dc:creator>
  <cp:lastModifiedBy>Umar Farooq</cp:lastModifiedBy>
  <cp:revision>4</cp:revision>
  <dcterms:created xsi:type="dcterms:W3CDTF">2026-04-12T19:53:41Z</dcterms:created>
  <dcterms:modified xsi:type="dcterms:W3CDTF">2026-04-12T21:20:30Z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defa4170-0d19-0005-0004-bc88714345d2_Enabled">
    <vt:lpwstr>true</vt:lpwstr>
  </property>
  <property fmtid="{D5CDD505-2E9C-101B-9397-08002B2CF9AE}" pid="3" name="MSIP_Label_defa4170-0d19-0005-0004-bc88714345d2_SetDate">
    <vt:lpwstr>2026-04-12T21:01:47Z</vt:lpwstr>
  </property>
  <property fmtid="{D5CDD505-2E9C-101B-9397-08002B2CF9AE}" pid="4" name="MSIP_Label_defa4170-0d19-0005-0004-bc88714345d2_Method">
    <vt:lpwstr>Standard</vt:lpwstr>
  </property>
  <property fmtid="{D5CDD505-2E9C-101B-9397-08002B2CF9AE}" pid="5" name="MSIP_Label_defa4170-0d19-0005-0004-bc88714345d2_Name">
    <vt:lpwstr>defa4170-0d19-0005-0004-bc88714345d2</vt:lpwstr>
  </property>
  <property fmtid="{D5CDD505-2E9C-101B-9397-08002B2CF9AE}" pid="6" name="MSIP_Label_defa4170-0d19-0005-0004-bc88714345d2_SiteId">
    <vt:lpwstr>9aafd452-b819-40a3-a400-f94ff33b0125</vt:lpwstr>
  </property>
  <property fmtid="{D5CDD505-2E9C-101B-9397-08002B2CF9AE}" pid="7" name="MSIP_Label_defa4170-0d19-0005-0004-bc88714345d2_ActionId">
    <vt:lpwstr>e615bd29-1597-42ce-9b05-4d0617599401</vt:lpwstr>
  </property>
  <property fmtid="{D5CDD505-2E9C-101B-9397-08002B2CF9AE}" pid="8" name="MSIP_Label_defa4170-0d19-0005-0004-bc88714345d2_ContentBits">
    <vt:lpwstr>0</vt:lpwstr>
  </property>
  <property fmtid="{D5CDD505-2E9C-101B-9397-08002B2CF9AE}" pid="9" name="MSIP_Label_defa4170-0d19-0005-0004-bc88714345d2_Tag">
    <vt:lpwstr>50, 3, 0, 1</vt:lpwstr>
  </property>
</Properties>
</file>