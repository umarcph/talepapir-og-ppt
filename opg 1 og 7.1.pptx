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3" r:id="rId1"/>
  </p:sldMasterIdLst>
  <p:sldIdLst>
    <p:sldId id="256" r:id="rId2"/>
    <p:sldId id="257" r:id="rId3"/>
    <p:sldId id="258" r:id="rId4"/>
    <p:sldId id="265" r:id="rId5"/>
    <p:sldId id="260" r:id="rId6"/>
    <p:sldId id="261" r:id="rId7"/>
    <p:sldId id="269" r:id="rId8"/>
    <p:sldId id="270" r:id="rId9"/>
    <p:sldId id="267" r:id="rId10"/>
    <p:sldId id="268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B573C9-A2F8-C548-B5AE-2F95688CC811}" v="17" dt="2026-04-13T11:46:29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/>
    <p:restoredTop sz="94582"/>
  </p:normalViewPr>
  <p:slideViewPr>
    <p:cSldViewPr snapToGrid="0">
      <p:cViewPr varScale="1">
        <p:scale>
          <a:sx n="109" d="100"/>
          <a:sy n="109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62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27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5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7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0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3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8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7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1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6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82" r:id="rId6"/>
    <p:sldLayoutId id="2147483677" r:id="rId7"/>
    <p:sldLayoutId id="2147483678" r:id="rId8"/>
    <p:sldLayoutId id="2147483679" r:id="rId9"/>
    <p:sldLayoutId id="2147483681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B19D54-C438-10C6-798D-CCC5A722FA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5DEB6A-976D-98B6-8875-F4C240958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3000">
                <a:schemeClr val="bg1">
                  <a:alpha val="25000"/>
                </a:schemeClr>
              </a:gs>
              <a:gs pos="59000">
                <a:schemeClr val="bg1">
                  <a:alpha val="35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EF25D5-FF0A-C313-8BE7-E7D93FCDD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1" y="5728447"/>
            <a:ext cx="8201790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da-DK" dirty="0"/>
              <a:t>Præsentation 1: Opgave 1 og 7.1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DC8C65F2-98A0-0052-DD8C-8BB6AB06D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7819" y="5728445"/>
            <a:ext cx="3409110" cy="950410"/>
          </a:xfrm>
        </p:spPr>
        <p:txBody>
          <a:bodyPr anchor="ctr">
            <a:normAutofit/>
          </a:bodyPr>
          <a:lstStyle/>
          <a:p>
            <a:pPr algn="r"/>
            <a:r>
              <a:rPr lang="da-DK" sz="1900" dirty="0" err="1"/>
              <a:t>Expected</a:t>
            </a:r>
            <a:r>
              <a:rPr lang="da-DK" sz="1900" dirty="0"/>
              <a:t> </a:t>
            </a:r>
            <a:r>
              <a:rPr lang="da-DK" sz="1900" dirty="0" err="1"/>
              <a:t>Goals</a:t>
            </a:r>
            <a:r>
              <a:rPr lang="da-DK" sz="1900" dirty="0"/>
              <a:t> Model (</a:t>
            </a:r>
            <a:r>
              <a:rPr lang="da-DK" sz="1900" dirty="0" err="1"/>
              <a:t>xG</a:t>
            </a:r>
            <a:r>
              <a:rPr lang="da-DK" sz="1900" dirty="0"/>
              <a:t>) &amp; Jura </a:t>
            </a:r>
            <a:r>
              <a:rPr lang="da-DK" sz="1900"/>
              <a:t>og ophavsret</a:t>
            </a:r>
            <a:endParaRPr lang="da-DK" sz="1900" dirty="0"/>
          </a:p>
        </p:txBody>
      </p:sp>
    </p:spTree>
    <p:extLst>
      <p:ext uri="{BB962C8B-B14F-4D97-AF65-F5344CB8AC3E}">
        <p14:creationId xmlns:p14="http://schemas.microsoft.com/office/powerpoint/2010/main" val="853601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270984-FFDF-FED7-687B-32F1ACC9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0"/>
            <a:ext cx="4361693" cy="1527049"/>
          </a:xfrm>
        </p:spPr>
        <p:txBody>
          <a:bodyPr anchor="b">
            <a:normAutofit/>
          </a:bodyPr>
          <a:lstStyle/>
          <a:p>
            <a:r>
              <a:rPr lang="da-DK" sz="3100" dirty="0"/>
              <a:t>Opgave 1.1: Opdeling i trænings- og testdata for skud	</a:t>
            </a:r>
          </a:p>
        </p:txBody>
      </p:sp>
      <p:pic>
        <p:nvPicPr>
          <p:cNvPr id="5" name="Picture 4" descr="Dartpil i midten af målskiven">
            <a:extLst>
              <a:ext uri="{FF2B5EF4-FFF2-40B4-BE49-F238E27FC236}">
                <a16:creationId xmlns:a16="http://schemas.microsoft.com/office/drawing/2014/main" id="{100C5362-DCBF-6EEC-4752-05D090BCF8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04" r="662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97579B-4B01-248A-4B53-CE89C0C43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658323"/>
            <a:ext cx="4361693" cy="40965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a-DK" sz="1800" dirty="0"/>
              <a:t>Karakteristika: Fodboldkampe indeholder ofte relativt få mål, ift. antal af skud </a:t>
            </a:r>
          </a:p>
          <a:p>
            <a:pPr>
              <a:lnSpc>
                <a:spcPct val="110000"/>
              </a:lnSpc>
            </a:pPr>
            <a:r>
              <a:rPr lang="da-DK" sz="1800" dirty="0"/>
              <a:t>Datasættet vil være ubalanceret og skævt: Langt flere ikke-mål end mål</a:t>
            </a:r>
          </a:p>
          <a:p>
            <a:pPr>
              <a:lnSpc>
                <a:spcPct val="110000"/>
              </a:lnSpc>
            </a:pPr>
            <a:r>
              <a:rPr lang="da-DK" sz="1800" dirty="0"/>
              <a:t>Med 4.492 skud er datamængden stor nok til at en 80/20 fordeling er fornuftig</a:t>
            </a:r>
          </a:p>
          <a:p>
            <a:pPr>
              <a:lnSpc>
                <a:spcPct val="110000"/>
              </a:lnSpc>
            </a:pPr>
            <a:r>
              <a:rPr lang="da-DK" sz="1800" dirty="0"/>
              <a:t>Der var 4.492 skud</a:t>
            </a:r>
          </a:p>
          <a:p>
            <a:pPr>
              <a:lnSpc>
                <a:spcPct val="110000"/>
              </a:lnSpc>
            </a:pPr>
            <a:r>
              <a:rPr lang="da-DK" sz="1800" dirty="0"/>
              <a:t>Der var 548 mål</a:t>
            </a:r>
          </a:p>
          <a:p>
            <a:pPr>
              <a:lnSpc>
                <a:spcPct val="110000"/>
              </a:lnSpc>
            </a:pPr>
            <a:r>
              <a:rPr lang="da-DK" sz="1800" dirty="0"/>
              <a:t>Andel mål: 0,1219</a:t>
            </a:r>
          </a:p>
          <a:p>
            <a:pPr>
              <a:lnSpc>
                <a:spcPct val="110000"/>
              </a:lnSpc>
            </a:pPr>
            <a:endParaRPr lang="da-DK" sz="18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4E0A9A05-5E0A-2B2D-335B-C900A6B31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811" y="1699957"/>
            <a:ext cx="5244084" cy="78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13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142102-B819-E12C-C884-E71271A5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0"/>
            <a:ext cx="4361693" cy="1527049"/>
          </a:xfrm>
        </p:spPr>
        <p:txBody>
          <a:bodyPr anchor="b">
            <a:normAutofit/>
          </a:bodyPr>
          <a:lstStyle/>
          <a:p>
            <a:r>
              <a:rPr lang="da-DK" sz="2500" dirty="0"/>
              <a:t>Opgave 1.2: Forklarende variable, forklaring og grafiske illustrationer, beskrivende statistik</a:t>
            </a:r>
          </a:p>
        </p:txBody>
      </p:sp>
      <p:pic>
        <p:nvPicPr>
          <p:cNvPr id="5" name="Picture 4" descr="Komplekse matematiske formler på en tavle">
            <a:extLst>
              <a:ext uri="{FF2B5EF4-FFF2-40B4-BE49-F238E27FC236}">
                <a16:creationId xmlns:a16="http://schemas.microsoft.com/office/drawing/2014/main" id="{83CC42EE-727C-3536-1599-A74C489F45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41" r="9117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0EEF7857-B33D-6263-71FF-BDF10D7212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23007" y="2761486"/>
                <a:ext cx="4361693" cy="409651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da-DK" sz="1300" dirty="0"/>
                  <a:t>Vi bruger afstand til mål, vinkel til mål, kropsdel, længde på angreb og form for angreb</a:t>
                </a:r>
              </a:p>
              <a:p>
                <a:pPr>
                  <a:lnSpc>
                    <a:spcPct val="110000"/>
                  </a:lnSpc>
                </a:pPr>
                <a:r>
                  <a:rPr lang="da-DK" sz="1300" dirty="0"/>
                  <a:t>Den euklidiske distance: den euklidiske distance finder den korteste afstand mellem to punkter i et koordinatsystem. Dette er bygget på Pythagoras sætning der siger a^2 + b^2 = c^2. I vores tilfælde siger vi målet i 105, 34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da-DK" sz="1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da-DK" sz="130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a-DK" sz="13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a-DK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a-DK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sz="13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da-DK" sz="13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sz="13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da-DK" sz="13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sz="130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a-DK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a-DK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a-DK" sz="13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da-DK" sz="13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a-DK" sz="13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da-DK" sz="13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da-DK" sz="1300" dirty="0"/>
              </a:p>
              <a:p>
                <a:pPr>
                  <a:lnSpc>
                    <a:spcPct val="110000"/>
                  </a:lnSpc>
                </a:pPr>
                <a:r>
                  <a:rPr lang="da-DK" sz="1300" dirty="0"/>
                  <a:t>Vi bruger cosinusrelationen efter vi har afstandene til stolperne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a-DK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3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da-DK" sz="13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13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3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da-DK" sz="13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13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da-DK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3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da-DK" sz="13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1300">
                        <a:latin typeface="Cambria Math" panose="02040503050406030204" pitchFamily="18" charset="0"/>
                      </a:rPr>
                      <m:t>−2</m:t>
                    </m:r>
                    <m:r>
                      <a:rPr lang="da-DK" sz="1300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da-DK" sz="1300" b="0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da-DK" sz="1300">
                        <a:latin typeface="Cambria Math" panose="02040503050406030204" pitchFamily="18" charset="0"/>
                      </a:rPr>
                      <m:t>cos</m:t>
                    </m:r>
                    <m:r>
                      <a:rPr lang="da-DK" sz="13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da-DK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3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da-DK" sz="1300" dirty="0"/>
              </a:p>
              <a:p>
                <a:pPr>
                  <a:lnSpc>
                    <a:spcPct val="110000"/>
                  </a:lnSpc>
                </a:pPr>
                <a:r>
                  <a:rPr lang="da-DK" sz="1300" dirty="0"/>
                  <a:t>Vi bruger den inverse cosinus, </a:t>
                </a:r>
                <a:r>
                  <a:rPr lang="da-DK" sz="1300" dirty="0" err="1"/>
                  <a:t>acos</a:t>
                </a:r>
                <a:r>
                  <a:rPr lang="da-DK" sz="1300" dirty="0"/>
                  <a:t>(). Output er nu i radianer</a:t>
                </a:r>
              </a:p>
              <a:p>
                <a:pPr>
                  <a:lnSpc>
                    <a:spcPct val="110000"/>
                  </a:lnSpc>
                </a:pPr>
                <a:r>
                  <a:rPr lang="da-DK" sz="1300" dirty="0"/>
                  <a:t>Vi bruger angle rad * 180 / pi</a:t>
                </a:r>
              </a:p>
              <a:p>
                <a:pPr>
                  <a:lnSpc>
                    <a:spcPct val="110000"/>
                  </a:lnSpc>
                </a:pPr>
                <a:endParaRPr lang="da-DK" sz="1300" dirty="0"/>
              </a:p>
              <a:p>
                <a:pPr>
                  <a:lnSpc>
                    <a:spcPct val="110000"/>
                  </a:lnSpc>
                </a:pPr>
                <a:endParaRPr lang="da-DK" sz="1300" dirty="0"/>
              </a:p>
              <a:p>
                <a:pPr>
                  <a:lnSpc>
                    <a:spcPct val="110000"/>
                  </a:lnSpc>
                </a:pPr>
                <a:endParaRPr lang="da-DK" sz="13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da-DK" sz="130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0EEF7857-B33D-6263-71FF-BDF10D7212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23007" y="2761486"/>
                <a:ext cx="4361693" cy="4096514"/>
              </a:xfrm>
              <a:blipFill>
                <a:blip r:embed="rId3"/>
                <a:stretch>
                  <a:fillRect r="-115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EBFF2FF4-4C34-CDA5-3C3E-E4C181CA2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9" y="1674950"/>
            <a:ext cx="4904231" cy="72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1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EAA99-C5EC-34F9-49D9-F81903319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5" y="166960"/>
            <a:ext cx="3331525" cy="1616203"/>
          </a:xfrm>
        </p:spPr>
        <p:txBody>
          <a:bodyPr anchor="b">
            <a:normAutofit fontScale="90000"/>
          </a:bodyPr>
          <a:lstStyle/>
          <a:p>
            <a:r>
              <a:rPr lang="da-DK" sz="2700" dirty="0"/>
              <a:t>1.2: Forklarende variable, forklaring og grafiske illustrationer, beskrivende statistik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6EC3E79-B772-58A8-4F6C-D3F6CA784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4" y="2861270"/>
            <a:ext cx="3331526" cy="3447832"/>
          </a:xfrm>
        </p:spPr>
        <p:txBody>
          <a:bodyPr anchor="t">
            <a:normAutofit fontScale="92500" lnSpcReduction="10000"/>
          </a:bodyPr>
          <a:lstStyle/>
          <a:p>
            <a:r>
              <a:rPr lang="da-DK" sz="2000" dirty="0"/>
              <a:t>Kropsdel: Højre fod, venstre fod, eller hoved/andet</a:t>
            </a:r>
          </a:p>
          <a:p>
            <a:r>
              <a:rPr lang="da-DK" sz="2000" dirty="0"/>
              <a:t>Længde på angreb: Hvor lang tid går der inden skuddet sendes afsted</a:t>
            </a:r>
          </a:p>
          <a:p>
            <a:r>
              <a:rPr lang="da-DK" sz="2000" dirty="0"/>
              <a:t>Form for angreb: Open </a:t>
            </a:r>
            <a:r>
              <a:rPr lang="da-DK" sz="2000" dirty="0" err="1"/>
              <a:t>play</a:t>
            </a:r>
            <a:r>
              <a:rPr lang="da-DK" sz="2000" dirty="0"/>
              <a:t>, corner, </a:t>
            </a:r>
            <a:r>
              <a:rPr lang="da-DK" sz="2000" dirty="0" err="1"/>
              <a:t>free</a:t>
            </a:r>
            <a:r>
              <a:rPr lang="da-DK" sz="2000" dirty="0"/>
              <a:t> kick or </a:t>
            </a:r>
            <a:r>
              <a:rPr lang="da-DK" sz="2000" dirty="0" err="1"/>
              <a:t>penalty</a:t>
            </a:r>
            <a:r>
              <a:rPr lang="da-DK" sz="2000" dirty="0"/>
              <a:t> eller </a:t>
            </a:r>
            <a:r>
              <a:rPr lang="da-DK" sz="2000" dirty="0" err="1"/>
              <a:t>restart_other</a:t>
            </a:r>
            <a:endParaRPr lang="da-DK" sz="2000" dirty="0"/>
          </a:p>
          <a:p>
            <a:endParaRPr lang="da-DK" sz="20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33E8AEC-E997-5A12-05B9-88E380CD0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761" y="1098045"/>
            <a:ext cx="2766550" cy="2206323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3FC360AD-2F96-2225-D5BA-DCC37AC0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761" y="3482025"/>
            <a:ext cx="2766550" cy="2206323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8E692730-F0D6-4E24-AD32-C4BA811E5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780" y="2078165"/>
            <a:ext cx="3331526" cy="2656891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004A52F-AB30-BEC5-0EF5-6AA0907C7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69" y="2078165"/>
            <a:ext cx="4208220" cy="62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86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81B957-9115-BEA2-E74D-9C17024F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da-DK" sz="3300" dirty="0"/>
              <a:t>1.3: Forklarende variable og effekt på om et skud bliver til et mål </a:t>
            </a:r>
          </a:p>
        </p:txBody>
      </p:sp>
      <p:pic>
        <p:nvPicPr>
          <p:cNvPr id="5" name="Picture 4" descr="En væg, der er malet med en pil og en målskiven">
            <a:extLst>
              <a:ext uri="{FF2B5EF4-FFF2-40B4-BE49-F238E27FC236}">
                <a16:creationId xmlns:a16="http://schemas.microsoft.com/office/drawing/2014/main" id="{6818ABDE-91E1-043A-BA76-3D0821F6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0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FFFD0DA-050C-37C6-5B4B-040844F22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079" y="3750006"/>
            <a:ext cx="5916169" cy="2768026"/>
          </a:xfrm>
        </p:spPr>
        <p:txBody>
          <a:bodyPr>
            <a:normAutofit/>
          </a:bodyPr>
          <a:lstStyle/>
          <a:p>
            <a:r>
              <a:rPr lang="da-DK" sz="1800" dirty="0"/>
              <a:t>Vinkel til mål: To i én, hvor tæt spilleren er på mål og hvor centralt foran mål</a:t>
            </a:r>
          </a:p>
          <a:p>
            <a:r>
              <a:rPr lang="da-DK" sz="1800" dirty="0"/>
              <a:t>Afstand til mål: Jo tættere man er på mål, jo større chance er der for man scorer.</a:t>
            </a:r>
          </a:p>
          <a:p>
            <a:r>
              <a:rPr lang="da-DK" sz="1800" dirty="0"/>
              <a:t>Kropsdel: Det er lettere at få kraft i afslutningen med foden, lettere at finjustere boldens bane mod mål. </a:t>
            </a:r>
          </a:p>
          <a:p>
            <a:endParaRPr lang="da-DK" sz="18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DDF018CE-61C2-5E70-8726-46F271B14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371" y="2391508"/>
            <a:ext cx="6000968" cy="87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0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7C39DCC-B3DA-3586-4823-64C4D0B65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da-DK" sz="3300"/>
              <a:t>1.4: Forudsige om et givent skud bliver til et mål</a:t>
            </a:r>
          </a:p>
        </p:txBody>
      </p:sp>
      <p:pic>
        <p:nvPicPr>
          <p:cNvPr id="5" name="Picture 4" descr="Rød legetøj-person foran to linjer af hvide tal">
            <a:extLst>
              <a:ext uri="{FF2B5EF4-FFF2-40B4-BE49-F238E27FC236}">
                <a16:creationId xmlns:a16="http://schemas.microsoft.com/office/drawing/2014/main" id="{6BC6E18B-ED20-0E4C-D58A-14470B7630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89" r="24534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10CCDB0-1925-6F12-BB76-02F3BFA75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3914128"/>
            <a:ext cx="5916169" cy="4095078"/>
          </a:xfrm>
        </p:spPr>
        <p:txBody>
          <a:bodyPr>
            <a:normAutofit/>
          </a:bodyPr>
          <a:lstStyle/>
          <a:p>
            <a:r>
              <a:rPr lang="da-DK" sz="1800" dirty="0"/>
              <a:t>Den model der er bedst til at forudsige mål, er </a:t>
            </a:r>
            <a:r>
              <a:rPr lang="da-DK" sz="1800" dirty="0" err="1"/>
              <a:t>XGBoost</a:t>
            </a:r>
            <a:r>
              <a:rPr lang="da-DK" sz="1800" dirty="0"/>
              <a:t>.</a:t>
            </a:r>
          </a:p>
          <a:p>
            <a:r>
              <a:rPr lang="da-DK" sz="1800" dirty="0" err="1"/>
              <a:t>Xg</a:t>
            </a:r>
            <a:r>
              <a:rPr lang="da-DK" sz="1800" dirty="0"/>
              <a:t> boost står for </a:t>
            </a:r>
            <a:r>
              <a:rPr lang="da-DK" sz="1800" dirty="0" err="1"/>
              <a:t>extreme</a:t>
            </a:r>
            <a:r>
              <a:rPr lang="da-DK" sz="1800" dirty="0"/>
              <a:t> gradient </a:t>
            </a:r>
            <a:r>
              <a:rPr lang="da-DK" sz="1800" dirty="0" err="1"/>
              <a:t>boosting</a:t>
            </a:r>
            <a:r>
              <a:rPr lang="da-DK" sz="1800" dirty="0"/>
              <a:t>; en ensemble model der bygger mange små beslutningstræer, lærer af sine fejl løbende og kombinerer dem til en stærk model. </a:t>
            </a:r>
          </a:p>
          <a:p>
            <a:endParaRPr lang="da-DK" sz="18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938AF8A1-2AD5-C4E0-F751-5F4A546E1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532" y="2466140"/>
            <a:ext cx="5916169" cy="76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3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9682D-A11C-CAA2-ABD5-806CE0ED4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1.5: Konklusioner på </a:t>
            </a:r>
            <a:r>
              <a:rPr lang="da-DK" dirty="0" err="1"/>
              <a:t>xG</a:t>
            </a:r>
            <a:r>
              <a:rPr lang="da-DK" dirty="0"/>
              <a:t> model</a:t>
            </a:r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C45A5253-6DEC-9B84-B980-7D4D7F40C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587" y="2832100"/>
            <a:ext cx="90297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2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D3D8CC-3971-93F9-4465-16B859B4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1.6: I virkeligheden</a:t>
            </a:r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F54C920A-A2D5-6A5B-D77C-D6C5E836D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831" y="3548856"/>
            <a:ext cx="87376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9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3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4F7CF-E52C-8B84-8DC6-2057C1736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10195"/>
            <a:ext cx="5862396" cy="676890"/>
          </a:xfrm>
        </p:spPr>
        <p:txBody>
          <a:bodyPr anchor="b">
            <a:normAutofit/>
          </a:bodyPr>
          <a:lstStyle/>
          <a:p>
            <a:r>
              <a:rPr lang="da-DK" dirty="0"/>
              <a:t>7.1: Hvem ejer dataene?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5A3721E-5FC2-C165-566A-9DA982931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423864"/>
            <a:ext cx="5862396" cy="40965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a-DK" sz="1500" dirty="0"/>
              <a:t>Rå data: Ikke ophavsretlig beskyttet da det anses som objektiv fakta</a:t>
            </a:r>
          </a:p>
          <a:p>
            <a:pPr>
              <a:lnSpc>
                <a:spcPct val="110000"/>
              </a:lnSpc>
            </a:pPr>
            <a:r>
              <a:rPr lang="da-DK" sz="1500" dirty="0"/>
              <a:t>Ophavsretsloven §1: Vi kræver en vis grad af originalitet og kreativitet</a:t>
            </a:r>
          </a:p>
          <a:p>
            <a:pPr>
              <a:lnSpc>
                <a:spcPct val="110000"/>
              </a:lnSpc>
            </a:pPr>
            <a:r>
              <a:rPr lang="da-DK" sz="1500" dirty="0"/>
              <a:t>Databaser kan være beskyttet gennem databaseret, hvis: Væsentlig investering ved indsamling, strukturering, og vedligeholdelse jvf. Ophavsretsloven §71.</a:t>
            </a:r>
          </a:p>
          <a:p>
            <a:pPr>
              <a:lnSpc>
                <a:spcPct val="110000"/>
              </a:lnSpc>
            </a:pPr>
            <a:r>
              <a:rPr lang="da-DK" sz="1500" dirty="0"/>
              <a:t>For statsbomb: Indsamlet og struktureret af virksomheden, </a:t>
            </a:r>
            <a:r>
              <a:rPr lang="da-DK" sz="1500" dirty="0" err="1"/>
              <a:t>dvs</a:t>
            </a:r>
            <a:r>
              <a:rPr lang="da-DK" sz="1500" dirty="0"/>
              <a:t> databaserettigheder kan gøres gældende.</a:t>
            </a:r>
          </a:p>
          <a:p>
            <a:pPr>
              <a:lnSpc>
                <a:spcPct val="110000"/>
              </a:lnSpc>
            </a:pPr>
            <a:r>
              <a:rPr lang="da-DK" sz="1500" dirty="0" err="1"/>
              <a:t>Wyscout</a:t>
            </a:r>
            <a:r>
              <a:rPr lang="da-DK" sz="1500" dirty="0"/>
              <a:t>: Samme situation</a:t>
            </a:r>
          </a:p>
          <a:p>
            <a:pPr>
              <a:lnSpc>
                <a:spcPct val="110000"/>
              </a:lnSpc>
            </a:pPr>
            <a:r>
              <a:rPr lang="da-DK" sz="1500" dirty="0"/>
              <a:t>Kampens hændelser er ikke beskyttede, men den måde dataene er systematiserede og gjort tilgængelig.</a:t>
            </a:r>
          </a:p>
          <a:p>
            <a:pPr>
              <a:lnSpc>
                <a:spcPct val="110000"/>
              </a:lnSpc>
            </a:pPr>
            <a:endParaRPr lang="da-DK" sz="1500" dirty="0"/>
          </a:p>
          <a:p>
            <a:pPr>
              <a:lnSpc>
                <a:spcPct val="110000"/>
              </a:lnSpc>
            </a:pPr>
            <a:endParaRPr lang="da-DK" sz="1500" dirty="0"/>
          </a:p>
          <a:p>
            <a:pPr>
              <a:lnSpc>
                <a:spcPct val="110000"/>
              </a:lnSpc>
            </a:pPr>
            <a:endParaRPr lang="da-DK" sz="1500" dirty="0"/>
          </a:p>
        </p:txBody>
      </p:sp>
      <p:pic>
        <p:nvPicPr>
          <p:cNvPr id="4" name="Picture 2" descr="Skal jeg selv betale - Love og Paragraffer - Ergoterapeut Lone Olsen">
            <a:extLst>
              <a:ext uri="{FF2B5EF4-FFF2-40B4-BE49-F238E27FC236}">
                <a16:creationId xmlns:a16="http://schemas.microsoft.com/office/drawing/2014/main" id="{FAE39DD4-8144-4B65-046A-37115AA34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1395" y="1055625"/>
            <a:ext cx="4681506" cy="477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5F63F1CD-8C31-5ABE-0285-814A6F21D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85" y="1097280"/>
            <a:ext cx="5627914" cy="115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5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3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E08397-2B3B-9832-9287-E3719ACC6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838" y="157606"/>
            <a:ext cx="4361693" cy="1167164"/>
          </a:xfrm>
        </p:spPr>
        <p:txBody>
          <a:bodyPr anchor="b">
            <a:normAutofit/>
          </a:bodyPr>
          <a:lstStyle/>
          <a:p>
            <a:r>
              <a:rPr lang="da-DK" dirty="0"/>
              <a:t>7.1: Hvem ejer dataene?</a:t>
            </a:r>
          </a:p>
        </p:txBody>
      </p:sp>
      <p:pic>
        <p:nvPicPr>
          <p:cNvPr id="4" name="Picture 2" descr="Etik i historieundervisningen: Vi skal turde være usikre - Folkeskolen">
            <a:extLst>
              <a:ext uri="{FF2B5EF4-FFF2-40B4-BE49-F238E27FC236}">
                <a16:creationId xmlns:a16="http://schemas.microsoft.com/office/drawing/2014/main" id="{7788FF7A-F6FB-5686-7DA0-B0E65E4B8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1" r="29989"/>
          <a:stretch>
            <a:fillRect/>
          </a:stretch>
        </p:blipFill>
        <p:spPr bwMode="auto">
          <a:xfrm>
            <a:off x="1" y="10"/>
            <a:ext cx="637336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E5DA840-292F-076C-B17E-FDDBFD1B4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838" y="2467572"/>
            <a:ext cx="4361693" cy="40965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a-DK" sz="1400" dirty="0"/>
              <a:t>For Brøndby IF: Data gennem </a:t>
            </a:r>
            <a:r>
              <a:rPr lang="da-DK" sz="1400" dirty="0" err="1"/>
              <a:t>tracking</a:t>
            </a:r>
            <a:r>
              <a:rPr lang="da-DK" sz="1400" dirty="0"/>
              <a:t> systemer; Databaserettigheder hvis der er tale om en væsentlig investering jvf. Ophavsretsloven §71</a:t>
            </a:r>
          </a:p>
          <a:p>
            <a:pPr>
              <a:lnSpc>
                <a:spcPct val="110000"/>
              </a:lnSpc>
            </a:pPr>
            <a:r>
              <a:rPr lang="da-DK" sz="1400" dirty="0"/>
              <a:t>Brugsret? Brugsret betinget af licensvilkår dataene er udgivet under</a:t>
            </a:r>
          </a:p>
          <a:p>
            <a:pPr>
              <a:lnSpc>
                <a:spcPct val="110000"/>
              </a:lnSpc>
            </a:pPr>
            <a:r>
              <a:rPr lang="da-DK" sz="1400" dirty="0"/>
              <a:t>Kan opstå ophavsret for egne analyser, visualiseringer eller fortolkninger ved selvstændig og kreativ karakter, jvf. Ophavsretsloven §1</a:t>
            </a:r>
          </a:p>
          <a:p>
            <a:pPr>
              <a:lnSpc>
                <a:spcPct val="110000"/>
              </a:lnSpc>
            </a:pPr>
            <a:r>
              <a:rPr lang="da-DK" sz="1400" dirty="0"/>
              <a:t>Ved offentlig data, kan anvendes relativt frit</a:t>
            </a:r>
          </a:p>
          <a:p>
            <a:pPr>
              <a:lnSpc>
                <a:spcPct val="110000"/>
              </a:lnSpc>
            </a:pPr>
            <a:r>
              <a:rPr lang="da-DK" sz="1400" dirty="0"/>
              <a:t>Samlet set; Lagdelt rettighedsbillede, dataindsamleren ret over databasen, analytikeren ret over egne bearbejdninger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7E8F3559-C194-C6C7-C927-F6F80D0B6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068" y="1414222"/>
            <a:ext cx="4689231" cy="96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2831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571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1" baseType="lpstr">
      <vt:lpstr>VanillaVTI</vt:lpstr>
      <vt:lpstr>Præsentation 1: Opgave 1 og 7.1</vt:lpstr>
      <vt:lpstr>Opgave 1.1: Opdeling i trænings- og testdata for skud </vt:lpstr>
      <vt:lpstr>Opgave 1.2: Forklarende variable, forklaring og grafiske illustrationer, beskrivende statistik</vt:lpstr>
      <vt:lpstr>1.2: Forklarende variable, forklaring og grafiske illustrationer, beskrivende statistik</vt:lpstr>
      <vt:lpstr>1.3: Forklarende variable og effekt på om et skud bliver til et mål </vt:lpstr>
      <vt:lpstr>1.4: Forudsige om et givent skud bliver til et mål</vt:lpstr>
      <vt:lpstr>1.5: Konklusioner på xG model</vt:lpstr>
      <vt:lpstr>1.6: I virkeligheden</vt:lpstr>
      <vt:lpstr>7.1: Hvem ejer dataene?</vt:lpstr>
      <vt:lpstr>7.1: Hvem ejer dataene?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Kalle Bülow Kristensen</dc:creator>
  <cp:lastModifiedBy>Kalle Bülow Kristensen</cp:lastModifiedBy>
  <cp:revision>3</cp:revision>
  <dcterms:created xsi:type="dcterms:W3CDTF">2026-04-11T12:31:32Z</dcterms:created>
  <dcterms:modified xsi:type="dcterms:W3CDTF">2026-04-13T17:44:15Z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2026-04-11T13:47:47Z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00d8e649-c97a-4c1b-877b-f721d497e014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